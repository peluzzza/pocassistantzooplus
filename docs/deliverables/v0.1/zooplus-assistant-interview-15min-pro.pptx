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7" r:id="rId19"/>
    <p:sldId id="268" r:id="rId2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30s: PoC scope from Coding Task.docx — five functional requirements.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Explain FR acronym once. Point to docx sections 1-5. Then walk FR1 on next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60s: Show Swagger /docs (screenshot). Expand POST /chat. Run docx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 min: Map each bullet to Coding Task §2 and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Walk diagram. Default-deny before Chroma.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90s: Name each agent and allowed output.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5 min demo — tie steps to intent lanes (agentic slides).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1.5 min: FR5 + README four blocks.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Tie to FR4 and evaluation criteria.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45s: Managed Chroma/Pinecone + Cloud Run mental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45s + Q&amp;A. Emphasize same API contract for voice and photo.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0" y="0"/>
            <a:ext cx="7619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462272" y="0"/>
            <a:ext cx="128016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400800"/>
            <a:ext cx="12191695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69164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  <a:latin typeface="Arial"/>
              </a:defRPr>
            </a:pPr>
            <a:r>
              <a:t>zooplus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39319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0">
                <a:solidFill>
                  <a:srgbClr val="BFDBFE"/>
                </a:solidFill>
                <a:latin typeface="Arial"/>
              </a:defRPr>
            </a:pPr>
            <a:r>
              <a:t>Assistant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92040" y="1920240"/>
            <a:ext cx="68580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800" b="1">
                <a:solidFill>
                  <a:srgbClr val="0F172A"/>
                </a:solidFill>
                <a:latin typeface="Arial"/>
              </a:defRPr>
            </a:pPr>
            <a:r>
              <a:t>Senior AI Engineer take-home</a:t>
            </a:r>
          </a:p>
          <a:p>
            <a:pPr>
              <a:spcAft>
                <a:spcPts val="600"/>
              </a:spcAft>
              <a:defRPr sz="1900" b="0">
                <a:solidFill>
                  <a:srgbClr val="334155"/>
                </a:solidFill>
                <a:latin typeface="Arial"/>
              </a:defRPr>
            </a:pPr>
            <a:r>
              <a:t>15-minute walkthrough · see slide 2 for FR1–FR5</a:t>
            </a:r>
          </a:p>
          <a:p>
            <a:pPr>
              <a:spcAft>
                <a:spcPts val="600"/>
              </a:spcAft>
              <a:defRPr sz="1900" b="0">
                <a:solidFill>
                  <a:srgbClr val="0F172A"/>
                </a:solidFill>
                <a:latin typeface="Arial"/>
              </a:defRPr>
            </a:pPr>
            <a:r>
              <a:t>peluzzza/PoCAssistantZooplus · releases · v0.1.0</a:t>
            </a:r>
          </a:p>
          <a:p>
            <a:pPr>
              <a:spcAft>
                <a:spcPts val="600"/>
              </a:spcAft>
              <a:defRPr sz="1900" b="0">
                <a:solidFill>
                  <a:srgbClr val="1E3A8A"/>
                </a:solidFill>
                <a:latin typeface="Arial"/>
              </a:defRPr>
            </a:pPr>
            <a:r>
              <a:t>Async RAG · agentic lanes · catalog-only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Coding Task 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 = Functional Requirement from Coding Task.docx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§1–§5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07007"/>
            <a:ext cx="67299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298448"/>
            <a:ext cx="65836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FR1 — Functional Requirement 1: Async FastAPI POST /chat (site_id + query)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FR2 — Functional Requirement 2: answer + retrieved_products (grounded)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FR3 — Functional Requirement 3: RAG only from product_catalog_dataset.json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FR4 — Functional Requirement 4: pet products only; off-topic decline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FR5 — Functional Requirement 5: production-oriented repo + README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200" b="0">
                <a:solidFill>
                  <a:srgbClr val="0F172A"/>
                </a:solidFill>
                <a:latin typeface="Arial"/>
              </a:defRPr>
            </a:pPr>
            <a:r>
              <a:t>Plus: agentic architecture (slides 5–6) — evaluation story, not an FR number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0376" y="1362456"/>
            <a:ext cx="427024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0-contex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160520" cy="2859287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API 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FR1 — Functional Requirement 1: async FastAPI + POST /chat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4892040" cy="5074920"/>
          </a:xfrm>
          <a:prstGeom prst="rect">
            <a:avLst/>
          </a:prstGeom>
          <a:solidFill>
            <a:srgbClr val="F8FAFC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1389888"/>
            <a:ext cx="461772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6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FR1 — Async FastAPI · POST /chat { site_id, query }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async def chat() → await handle_chat()  (routes/chat.py)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Orchestrator async; Chroma/intent via asyncio.to_thread</a:t>
            </a:r>
          </a:p>
          <a:p>
            <a:pPr>
              <a:spcAft>
                <a:spcPts val="6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Deploy: uvicorn ASGI  ·  Test B1: iscoroutinefunction(chat)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310128"/>
            <a:ext cx="4617720" cy="1234440"/>
          </a:xfrm>
          <a:prstGeom prst="rect">
            <a:avLst/>
          </a:prstGeom>
          <a:solidFill>
            <a:srgbClr val="E0F2FE"/>
          </a:solidFill>
          <a:ln w="127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3456432"/>
            <a:ext cx="43434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{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"site_id": 3,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  "query": "What's the best dry food for a puppy with a sensitive stomach?"</a:t>
            </a:r>
          </a:p>
          <a:p>
            <a:pPr>
              <a:spcAft>
                <a:spcPts val="100"/>
              </a:spcAft>
              <a:defRPr sz="1200">
                <a:solidFill>
                  <a:srgbClr val="0A2540"/>
                </a:solidFill>
                <a:latin typeface="Consolas"/>
              </a:defRPr>
            </a:pPr>
            <a:r>
              <a:t>}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89320" y="1261872"/>
            <a:ext cx="5230368" cy="5074920"/>
          </a:xfrm>
          <a:prstGeom prst="roundRect">
            <a:avLst/>
          </a:prstGeom>
          <a:solidFill>
            <a:srgbClr val="FFFFFF"/>
          </a:solidFill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ot-H-swagger-open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25880"/>
            <a:ext cx="5102352" cy="288036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23" name="TextBox SwaggerCTA"/>
          <p:cNvSpPr txBox="1"/>
          <p:nvPr/>
        </p:nvSpPr>
        <p:spPr>
          <a:xfrm>
            <a:off x="713232" y="4709160"/>
            <a:ext cx="4617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2563EB"/>
                </a:solidFill>
                <a:latin typeface="Arial"/>
              </a:defRPr>
            </a:pPr>
            <a:r>
              <a:t>Live proof: /docs — Try it out with the mandatory brief query above</a:t>
            </a:r>
          </a:p>
        </p:txBody>
      </p:sp>
      <p:sp>
        <p:nvSpPr>
          <p:cNvPr id="24" name="Panel AsyncEvidenceV2"/>
          <p:cNvSpPr/>
          <p:nvPr/>
        </p:nvSpPr>
        <p:spPr>
          <a:xfrm>
            <a:off x="6053328" y="4315968"/>
            <a:ext cx="5102352" cy="1874519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AsyncEvidenceV2"/>
          <p:cNvSpPr txBox="1"/>
          <p:nvPr/>
        </p:nvSpPr>
        <p:spPr>
          <a:xfrm>
            <a:off x="6163056" y="4407408"/>
            <a:ext cx="4892040" cy="1691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defRPr sz="1100" b="1">
                <a:solidFill>
                  <a:srgbClr val="16A34A"/>
                </a:solidFill>
                <a:latin typeface="Arial"/>
              </a:defRPr>
            </a:pPr>
            <a:r>
              <a:t>Async evidence (source) — B1 PASS</a:t>
            </a:r>
          </a:p>
          <a:p>
            <a:pPr>
              <a:defRPr sz="1000">
                <a:solidFill>
                  <a:srgbClr val="E2E8F0"/>
                </a:solidFill>
                <a:latin typeface="Consolas"/>
              </a:defRPr>
            </a:pPr>
            <a:r>
              <a:t>@router.post("/chat")</a:t>
            </a:r>
            <a:br/>
            <a:r>
              <a:t>async def chat(body: ChatRequest):</a:t>
            </a:r>
            <a:br/>
            <a:r>
              <a:t>    return await handle_chat(body)</a:t>
            </a:r>
            <a:br/>
            <a:br/>
            <a:r>
              <a:t># B1  tests/acceptance/test_coding_task_brief.py</a:t>
            </a:r>
            <a:br/>
            <a:r>
              <a:t>assert inspect.iscoroutinefunction(chat)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Response &amp;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FR2 (§2 response) + FR3 (§3 catalog-only RAG)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FR2·FR3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FR2 = Structured response: answer + retrieved_products[]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answer must be conversational and grounded in hits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each product: article_id, names, price, pet_type, brands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FR3 = Knowledge ONLY from product_catalog_dataset.json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ingest → Chroma → hybrid retrieve → synthesize · no web/APIs</a:t>
            </a:r>
          </a:p>
          <a:p>
            <a:pPr lvl="1"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334155"/>
                </a:solidFill>
                <a:latin typeface="Arial"/>
              </a:defRPr>
            </a:pPr>
            <a:r>
              <a:t>  300 variants · shops 1/3/15 · max 4 SKUs per turn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4-rag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787184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Why hybrid retrieval?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Chroma vectors + BM25 lexical + business rerank — not vector-only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RAG · Hybrid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1206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Problem we saw in the catalog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Vector search alone misses exact tokens (brands, SKUs, “grain-free”).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Pure keyword search misses intent (“puppy sensitive stomach”).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Why this hybrid design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Chroma: semantic candidates from embedded product text (local, no API key).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BM25 on the same candidate pool: lexical match without a second DB.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Fuse 50% vector + 35% BM25 + 15% rating/sales/stock.</a:t>
            </a:r>
          </a:p>
          <a:p>
            <a:pPr>
              <a:spcAft>
                <a:spcPts val="600"/>
              </a:spcAft>
              <a:defRPr sz="1700" b="1">
                <a:solidFill>
                  <a:srgbClr val="0A2540"/>
                </a:solidFill>
                <a:latin typeface="Arial"/>
              </a:defRPr>
            </a:pPr>
            <a:r>
              <a:t>PoC trade-off</a:t>
            </a:r>
          </a:p>
          <a:p>
            <a:pPr>
              <a:spcAft>
                <a:spcPts val="600"/>
              </a:spcAft>
              <a:defRPr sz="1700" b="0">
                <a:solidFill>
                  <a:srgbClr val="334155"/>
                </a:solidFill>
                <a:latin typeface="Arial"/>
              </a:defRPr>
            </a:pPr>
            <a:r>
              <a:t>• Zero extra infra vs hosted vector DB; A/B via ZOOPLUS_RETRIEVAL_MODE=vector.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89320" y="1417320"/>
            <a:ext cx="539496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Query path (hybrid default)</a:t>
            </a:r>
          </a:p>
          <a:p>
            <a:pPr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1. Hard filter site_id in Chroma metadata</a:t>
            </a:r>
          </a:p>
          <a:p>
            <a:pPr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2. Pull candidates — pool scales with price band / requested count</a:t>
            </a:r>
          </a:p>
          <a:p>
            <a:pPr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3. Score BM25 + business signals on candidate pool</a:t>
            </a:r>
          </a:p>
          <a:p>
            <a:pPr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4. Rerank → default 4 picks; shopper can ask up to 20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delivery (v2.1.6)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NDJSON — UI reveals product cards in chunks of 4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A/B vector-only: ZOOPLUS_RETRIEVAL_MODE=vector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RAG strategy — end to 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Ingest → retrieve → ground → synthesize (catalog-only, site-scoped)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FR3 · RAG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Coding Task PoC v0.1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Ingest (offline)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Source JSON → data/raw (300 variants) · strip HTML.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Chroma per article_id · routing_lexicon.json at ingest.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Online path (catalog lane)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probe_instant_lane: phrase index + playbook → social | catalog.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Hybrid retrieve → EUR price filter → resolve count from query.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NDJSON stream (/chat/stream)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typing → chunk* → product_batch* → done (+ meta).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Social/help: no catalog progress; dedupe final vs live chunks.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Stream: /chat/stream → status* → products → done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UI: one transient status bubble (agent shopper_status).</a:t>
            </a:r>
          </a:p>
          <a:p>
            <a:pPr>
              <a:spcAft>
                <a:spcPts val="5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Production path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routing_lexicon.json at ingest; optional Redis mirror.</a:t>
            </a:r>
          </a:p>
          <a:p>
            <a:pPr lvl="1">
              <a:spcAft>
                <a:spcPts val="5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• Managed vector DB + scheduled re-ingest (roadmap P1).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Grounding &amp; answer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retrieved_products[] from same site_id hits only.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Off-topic → empty list + polite decline (FR4).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Synthesis: per-agent OpenCode LLM — never invent SKUs.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v2.1.6 — playbook + smart limits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4 picks default · shopper can ask for more (e.g. 10 opciones, cap 20).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product_batch stream — cards arrive in chunks of 4 in the UI.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social_phrases.yaml index + playbook auto-learn (help/greeting).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Dynamic species inference (iguana, capibara…) — not a fixed list.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Agentic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v2.1.6 · phrase-index probe · fast intent · product_batch stream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1297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Invisible conductor (releases v2.0+)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Internal MD playbook — conductor maintains silently.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Social turn → one bubble; help asks never hit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Catalog turn → ack from query (species, price, lang, count).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Dedupe: no re-greeting / no repeated scope in final answer.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Stream + fast intent (v2.1.3+)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Policy + intent-agent first; conductor opt-in (lower latency).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Parallel social/catalog · ZOOPLUS_STREAM_MODE=conductor.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9846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3-intent-sta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53328" y="1307592"/>
            <a:ext cx="5577840" cy="383333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Agents — who responds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OpenCode specialists: role, output, and cascade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Agents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0383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OpenCode specialists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zooplus-conductor → playbook + stream orchestration (invisible).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social-agent → shopper voice; mid-session help without re-intro.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intent / topic-guard → scope filter.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rag + logic + synthesis → grounded catalog answer.</a:t>
            </a:r>
          </a:p>
          <a:p>
            <a:pPr>
              <a:spcAft>
                <a:spcPts val="400"/>
              </a:spcAft>
              <a:defRPr sz="1300" b="1">
                <a:solidFill>
                  <a:srgbClr val="0A2540"/>
                </a:solidFill>
                <a:latin typeface="Arial"/>
              </a:defRPr>
            </a:pPr>
            <a:r>
              <a:t>Phrase index + language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~90 curated social phrases (ES/EN/DE/FR) — fast in-memory match.</a:t>
            </a:r>
          </a:p>
          <a:p>
            <a:pPr lvl="1">
              <a:spcAft>
                <a:spcPts val="400"/>
              </a:spcAft>
              <a:defRPr sz="1300" b="0">
                <a:solidFill>
                  <a:srgbClr val="334155"/>
                </a:solidFill>
                <a:latin typeface="Arial"/>
              </a:defRPr>
            </a:pPr>
            <a:r>
              <a:t>• Agent mirrors shopper language; playbook learns novel phrases.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6188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5-agents-inter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52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Guardrails +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FR4 — Functional Requirement 4: Pet-only scope (Coding Task §4)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126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FR4 guardrails + live demo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Pet catalog only · default-deny off-topic.</a:t>
            </a:r>
          </a:p>
          <a:p>
            <a:pPr>
              <a:spcAft>
                <a:spcPts val="400"/>
              </a:spcAft>
              <a:defRPr sz="1400" b="1">
                <a:solidFill>
                  <a:srgbClr val="0A2540"/>
                </a:solidFill>
                <a:latin typeface="Arial"/>
              </a:defRPr>
            </a:pPr>
            <a:r>
              <a:t>Demo — v2.1.6 smart loop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A: me puedes ayudar → social help, no catalog progress.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B: y para iguanas → scope reply, no duplicate Hola intro.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C: dame 10 opciones perros → up to 10 cards in batches.</a:t>
            </a:r>
          </a:p>
          <a:p>
            <a:pPr lvl="1">
              <a:spcAft>
                <a:spcPts val="400"/>
              </a:spcAft>
              <a:defRPr sz="1400" b="0">
                <a:solidFill>
                  <a:srgbClr val="334155"/>
                </a:solidFill>
                <a:latin typeface="Arial"/>
              </a:defRPr>
            </a:pPr>
            <a:r>
              <a:t>• http://127.0.0.1:8090/ui/ — shop Spain (15).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hot-G-guardrails-multila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61115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Production layout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FR5 — Functional Requirement 5: Production design (Coding Task §5)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FR5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54126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3949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FR5 = Production-oriented PoC: cli/ · src/ · tests/ · Docker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README submission: Design · Setup · Trade-offs · Roadmap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OpenCode agents internal — not in shopper API contract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Verify: scripts/run_release_verify.ps1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81344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10-project-stru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208" y="1307592"/>
            <a:ext cx="5577840" cy="419678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trust &amp; quality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1 · P0 — security and better filters (items 2–3)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35838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2120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2000" b="1">
                <a:solidFill>
                  <a:srgbClr val="0A2540"/>
                </a:solidFill>
                <a:latin typeface="Arial"/>
              </a:defRPr>
            </a:pPr>
            <a:r>
              <a:t>Why first: FR4 guardrails must survive prompt injection and policy drift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Constraints v2: versioned YAML + injection scanner + security CI gate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Intent facets: pet_type, price band, category in JSON → deterministic RAG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Fixes real gaps (e.g. wrong species in results) before more traffic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2000" b="0">
                <a:solidFill>
                  <a:srgbClr val="0F172A"/>
                </a:solidFill>
                <a:latin typeface="Arial"/>
              </a:defRPr>
            </a:pPr>
            <a:r>
              <a:t>Detail: docs/FUTURE_IMPROVEMENTS.md §2–§3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53328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6-quality-pyra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8192" y="1307592"/>
            <a:ext cx="5577840" cy="3887211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scale &amp; fresh catalog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2 · P1 — operations (items 8–9–4–5)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2122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07492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Why: stale vectors = wrong prices; single node cannot serve many users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RAG re-ingest: scheduled catalog sync → blue/green vector index swap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Concurrency: stateless API replicas · queue for process lane · rate limits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LLM: HTTP provider in workers (OpenCode stays for local dev/demo)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MCP server for external agents · ACP bus for internal agent choreography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2589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7-deploy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307592"/>
            <a:ext cx="5577840" cy="361526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400" b="1">
                <a:solidFill>
                  <a:srgbClr val="FFFFFF"/>
                </a:solidFill>
                <a:latin typeface="Arial"/>
              </a:defRPr>
            </a:pPr>
            <a:r>
              <a:t>Roadmap — product channels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713232"/>
            <a:ext cx="89611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0">
                <a:solidFill>
                  <a:srgbClr val="BFDBFE"/>
                </a:solidFill>
                <a:latin typeface="Arial"/>
              </a:defRPr>
            </a:pPr>
            <a:r>
              <a:t>Phase 3 · P2–P3 — after core is stable (items 7–1–6)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0" y="292608"/>
            <a:ext cx="1600200" cy="438912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Later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16" y="1261872"/>
            <a:ext cx="5266944" cy="4864608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353312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800" b="1">
                <a:solidFill>
                  <a:srgbClr val="0A2540"/>
                </a:solidFill>
                <a:latin typeface="Arial"/>
              </a:defRPr>
            </a:pPr>
            <a:r>
              <a:t>Image search: user photo → vision embedding → catalog-only RAG (no web)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Promo slots on /chat/stream while long RAG runs (feature-flagged ads)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Voice: STT/TTS wrapper — same POST /chat contract, new UI channel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Priority order: 2→3→8→9→4→5→7→1→6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800" b="0">
                <a:solidFill>
                  <a:srgbClr val="0F172A"/>
                </a:solidFill>
                <a:latin typeface="Arial"/>
              </a:defRPr>
            </a:pPr>
            <a:r>
              <a:t>Q&amp;A — full doc: docs/FUTURE_IMPROVEMENTS.md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71616" y="1252728"/>
            <a:ext cx="5687568" cy="498348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diag-01-contain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07592"/>
            <a:ext cx="5577840" cy="405369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· Coding Task PoC v0.1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5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29768" y="0"/>
            <a:ext cx="11761927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29768" y="0"/>
            <a:ext cx="11761927" cy="1115568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29768" y="1115568"/>
            <a:ext cx="11761927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9768" y="6419088"/>
            <a:ext cx="11761927" cy="438912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A25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0"/>
            <a:ext cx="45720" cy="68580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82880"/>
            <a:ext cx="914400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3400" b="1">
                <a:solidFill>
                  <a:srgbClr val="FFFFFF"/>
                </a:solidFill>
                <a:latin typeface="Arial"/>
              </a:defRPr>
            </a:pPr>
            <a:r>
              <a:t>Release progress — v0.1.0 → v2.1.6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713232"/>
            <a:ext cx="8046720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700" b="0">
                <a:solidFill>
                  <a:srgbClr val="BFDBFE"/>
                </a:solidFill>
                <a:latin typeface="Arial"/>
              </a:defRPr>
            </a:pPr>
            <a:r>
              <a:t>Same five FRs · smarter social routing, flexible picks, chunked UX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41280" y="292608"/>
            <a:ext cx="1600200" cy="438912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14432" y="347472"/>
            <a:ext cx="14630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rial"/>
              </a:defRPr>
            </a:pPr>
            <a:r>
              <a:t>Progress · releases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492240"/>
            <a:ext cx="93268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200" b="0">
                <a:solidFill>
                  <a:srgbClr val="BFDBFE"/>
                </a:solidFill>
                <a:latin typeface="Arial"/>
              </a:defRPr>
            </a:pPr>
            <a:r>
              <a:t>zooplus Assistant — releases v2.1.6 · progress since v0.1.0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473952"/>
            <a:ext cx="86868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216" y="1261872"/>
            <a:ext cx="10972800" cy="49834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1417320"/>
            <a:ext cx="534924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Foundation — v0.1.0 → v1.0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v0.1.0 — Coding Task PoC: FR1–5, hybrid RAG, FR4 guardrails.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v0.1.3 — Conductor-first routing; /chat/stream; per-agent OpenCode.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v1.0 — Stable tag: catalog lexicon at ingest, cache, multilingual.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257800" cy="4663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600"/>
              </a:spcAft>
              <a:defRPr sz="1500" b="1">
                <a:solidFill>
                  <a:srgbClr val="0A2540"/>
                </a:solidFill>
                <a:latin typeface="Arial"/>
              </a:defRPr>
            </a:pPr>
            <a:r>
              <a:t>Shopper experience — v1.4 → v2.1.6 (now)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 — Playbook MD; social/catalog probe; agent-multilingual.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v2.1.3 — Fast intent-first stream; conductor intent opt-in.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v2.1.4–5 — Species inference; help/saludo detect + dedupe.</a:t>
            </a:r>
          </a:p>
          <a:p>
            <a:pPr>
              <a:spcAft>
                <a:spcPts val="600"/>
              </a:spcAft>
              <a:defRPr sz="1500" b="0">
                <a:solidFill>
                  <a:srgbClr val="334155"/>
                </a:solidFill>
                <a:latin typeface="Arial"/>
              </a:defRPr>
            </a:pPr>
            <a:r>
              <a:t>v2.1.6 — Dynamic count (4→20); phrase index; product_batch UI.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