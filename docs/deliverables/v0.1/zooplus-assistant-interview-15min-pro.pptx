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7" r:id="rId19"/>
    <p:sldId id="268" r:id="rId20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9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5.xml"/><Relationship Id="rId20" Type="http://schemas.openxmlformats.org/officeDocument/2006/relationships/slide" Target="slides/slide6.xml"/><Relationship Id="rId21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30s: PoC scope from Coding Task.docx — five functional requirements.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45s: Explain FR acronym once. Point to docx sections 1-5. Then walk FR1 on next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60s: Show Swagger /docs (screenshot). Expand POST /chat. Run docx JSON.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 min: Map each bullet to Coding Task §2 and §3.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90s: Walk diagram. Default-deny before Chroma.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90s: Name each agent and allowed output.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5 min demo — tie steps to intent lanes (agentic slides).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1.5 min: FR5 + README four blocks.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45s: Tie to FR4 and evaluation criteria.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45s: Managed Chroma/Pinecone + Cloud Run mental model.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45s + Q&amp;A. Emphasize same API contract for voice and photo.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9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10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572000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0" y="0"/>
            <a:ext cx="7619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462272" y="0"/>
            <a:ext cx="128016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400800"/>
            <a:ext cx="12191695" cy="73152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691640"/>
            <a:ext cx="393192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5200" b="1">
                <a:solidFill>
                  <a:srgbClr val="FFFFFF"/>
                </a:solidFill>
                <a:latin typeface="Arial"/>
              </a:defRPr>
            </a:pPr>
            <a:r>
              <a:t>zooplus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697480"/>
            <a:ext cx="393192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0">
                <a:solidFill>
                  <a:srgbClr val="BFDBFE"/>
                </a:solidFill>
                <a:latin typeface="Arial"/>
              </a:defRPr>
            </a:pPr>
            <a:r>
              <a:t>Assistant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92040" y="1920240"/>
            <a:ext cx="68580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800" b="1">
                <a:solidFill>
                  <a:srgbClr val="0F172A"/>
                </a:solidFill>
                <a:latin typeface="Arial"/>
              </a:defRPr>
            </a:pPr>
            <a:r>
              <a:t>Senior AI Engineer take-home</a:t>
            </a:r>
          </a:p>
          <a:p>
            <a:pPr>
              <a:spcAft>
                <a:spcPts val="600"/>
              </a:spcAft>
              <a:defRPr sz="1900" b="0">
                <a:solidFill>
                  <a:srgbClr val="334155"/>
                </a:solidFill>
                <a:latin typeface="Arial"/>
              </a:defRPr>
            </a:pPr>
            <a:r>
              <a:t>15-minute walkthrough · see slide 2 for FR1–FR5</a:t>
            </a:r>
          </a:p>
          <a:p>
            <a:pPr>
              <a:spcAft>
                <a:spcPts val="600"/>
              </a:spcAft>
              <a:defRPr sz="1900" b="0">
                <a:solidFill>
                  <a:srgbClr val="0F172A"/>
                </a:solidFill>
                <a:latin typeface="Arial"/>
              </a:defRPr>
            </a:pPr>
            <a:r>
              <a:t>peluzzza/PoCAssistantZooplus · releases · v0.1.0</a:t>
            </a:r>
          </a:p>
          <a:p>
            <a:pPr>
              <a:spcAft>
                <a:spcPts val="600"/>
              </a:spcAft>
              <a:defRPr sz="1900" b="0">
                <a:solidFill>
                  <a:srgbClr val="1E3A8A"/>
                </a:solidFill>
                <a:latin typeface="Arial"/>
              </a:defRPr>
            </a:pPr>
            <a:r>
              <a:t>Async RAG · agentic lanes · catalog-only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29768" y="0"/>
            <a:ext cx="11761927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29768" y="0"/>
            <a:ext cx="11761927" cy="1115568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29768" y="1115568"/>
            <a:ext cx="11761927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82880"/>
            <a:ext cx="914400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FFFFFF"/>
                </a:solidFill>
                <a:latin typeface="Arial"/>
              </a:defRPr>
            </a:pPr>
            <a:r>
              <a:t>Coding Task overview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713232"/>
            <a:ext cx="89611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0">
                <a:solidFill>
                  <a:srgbClr val="BFDBFE"/>
                </a:solidFill>
                <a:latin typeface="Arial"/>
              </a:defRPr>
            </a:pPr>
            <a:r>
              <a:t>FR = Functional Requirement from Coding Task.docx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241280" y="292608"/>
            <a:ext cx="1600200" cy="438912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§1–§5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85216" y="1207007"/>
            <a:ext cx="6729984" cy="4864608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298448"/>
            <a:ext cx="65836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  <a:defRPr sz="2200" b="0">
                <a:solidFill>
                  <a:srgbClr val="0F172A"/>
                </a:solidFill>
                <a:latin typeface="Arial"/>
              </a:defRPr>
            </a:pPr>
            <a:r>
              <a:t>FR1 — Functional Requirement 1: Async FastAPI POST /chat (site_id + query)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2200" b="0">
                <a:solidFill>
                  <a:srgbClr val="0F172A"/>
                </a:solidFill>
                <a:latin typeface="Arial"/>
              </a:defRPr>
            </a:pPr>
            <a:r>
              <a:t>FR2 — Functional Requirement 2: answer + retrieved_products (grounded)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2200" b="0">
                <a:solidFill>
                  <a:srgbClr val="0F172A"/>
                </a:solidFill>
                <a:latin typeface="Arial"/>
              </a:defRPr>
            </a:pPr>
            <a:r>
              <a:t>FR3 — Functional Requirement 3: RAG only from product_catalog_dataset.json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2200" b="0">
                <a:solidFill>
                  <a:srgbClr val="0F172A"/>
                </a:solidFill>
                <a:latin typeface="Arial"/>
              </a:defRPr>
            </a:pPr>
            <a:r>
              <a:t>FR4 — Functional Requirement 4: pet products only; off-topic decline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2200" b="0">
                <a:solidFill>
                  <a:srgbClr val="0F172A"/>
                </a:solidFill>
                <a:latin typeface="Arial"/>
              </a:defRPr>
            </a:pPr>
            <a:r>
              <a:t>FR5 — Functional Requirement 5: production-oriented repo + README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2200" b="0">
                <a:solidFill>
                  <a:srgbClr val="0F172A"/>
                </a:solidFill>
                <a:latin typeface="Arial"/>
              </a:defRPr>
            </a:pPr>
            <a:r>
              <a:t>Plus: agentic architecture (slides 5–6) — evaluation story, not an FR number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80376" y="1362456"/>
            <a:ext cx="4270248" cy="49834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diag-00-contex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1417320"/>
            <a:ext cx="4160520" cy="2859287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429768" y="6419088"/>
            <a:ext cx="11761927" cy="438912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6492240"/>
            <a:ext cx="932688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0">
                <a:solidFill>
                  <a:srgbClr val="BFDBFE"/>
                </a:solidFill>
                <a:latin typeface="Arial"/>
              </a:defRPr>
            </a:pPr>
            <a:r>
              <a:t>zooplus Assistant · Coding Task PoC v0.1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0" y="6473952"/>
            <a:ext cx="86868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500" b="1">
                <a:solidFill>
                  <a:srgbClr val="FFFFFF"/>
                </a:solidFill>
                <a:latin typeface="Arial"/>
              </a:defRPr>
            </a:pPr>
            <a: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29768" y="0"/>
            <a:ext cx="11761927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29768" y="0"/>
            <a:ext cx="11761927" cy="1115568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29768" y="1115568"/>
            <a:ext cx="11761927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82880"/>
            <a:ext cx="914400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FFFFFF"/>
                </a:solidFill>
                <a:latin typeface="Arial"/>
              </a:defRPr>
            </a:pPr>
            <a:r>
              <a:t>API endpoint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713232"/>
            <a:ext cx="89611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0">
                <a:solidFill>
                  <a:srgbClr val="BFDBFE"/>
                </a:solidFill>
                <a:latin typeface="Arial"/>
              </a:defRPr>
            </a:pPr>
            <a:r>
              <a:t>FR1 — Functional Requirement 1: async FastAPI + POST /chat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241280" y="292608"/>
            <a:ext cx="1600200" cy="438912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FR1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85216" y="1261872"/>
            <a:ext cx="4892040" cy="5074920"/>
          </a:xfrm>
          <a:prstGeom prst="rect">
            <a:avLst/>
          </a:prstGeom>
          <a:solidFill>
            <a:srgbClr val="F8FAFC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13232" y="1389888"/>
            <a:ext cx="461772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  <a:defRPr sz="1400" b="1">
                <a:solidFill>
                  <a:srgbClr val="0A2540"/>
                </a:solidFill>
                <a:latin typeface="Arial"/>
              </a:defRPr>
            </a:pPr>
            <a:r>
              <a:t>FR1 — Async FastAPI · POST /chat { site_id, query }</a:t>
            </a:r>
          </a:p>
          <a:p>
            <a:pPr>
              <a:spcAft>
                <a:spcPts val="600"/>
              </a:spcAft>
              <a:defRPr sz="1400" b="0">
                <a:solidFill>
                  <a:srgbClr val="334155"/>
                </a:solidFill>
                <a:latin typeface="Arial"/>
              </a:defRPr>
            </a:pPr>
            <a:r>
              <a:t>async def chat() → await handle_chat()  (routes/chat.py)</a:t>
            </a:r>
          </a:p>
          <a:p>
            <a:pPr>
              <a:spcAft>
                <a:spcPts val="600"/>
              </a:spcAft>
              <a:defRPr sz="1400" b="0">
                <a:solidFill>
                  <a:srgbClr val="334155"/>
                </a:solidFill>
                <a:latin typeface="Arial"/>
              </a:defRPr>
            </a:pPr>
            <a:r>
              <a:t>Orchestrator async; Chroma/intent via asyncio.to_thread</a:t>
            </a:r>
          </a:p>
          <a:p>
            <a:pPr>
              <a:spcAft>
                <a:spcPts val="600"/>
              </a:spcAft>
              <a:defRPr sz="1400" b="0">
                <a:solidFill>
                  <a:srgbClr val="334155"/>
                </a:solidFill>
                <a:latin typeface="Arial"/>
              </a:defRPr>
            </a:pPr>
            <a:r>
              <a:t>Deploy: uvicorn ASGI  ·  Test B1: iscoroutinefunction(chat)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13232" y="3310128"/>
            <a:ext cx="4617720" cy="1234440"/>
          </a:xfrm>
          <a:prstGeom prst="rect">
            <a:avLst/>
          </a:prstGeom>
          <a:solidFill>
            <a:srgbClr val="E0F2FE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1248" y="3456432"/>
            <a:ext cx="434340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  <a:defRPr sz="1200">
                <a:solidFill>
                  <a:srgbClr val="0A2540"/>
                </a:solidFill>
                <a:latin typeface="Consolas"/>
              </a:defRPr>
            </a:pPr>
            <a:r>
              <a:t>{</a:t>
            </a:r>
          </a:p>
          <a:p>
            <a:pPr>
              <a:spcAft>
                <a:spcPts val="100"/>
              </a:spcAft>
              <a:defRPr sz="1200">
                <a:solidFill>
                  <a:srgbClr val="0A2540"/>
                </a:solidFill>
                <a:latin typeface="Consolas"/>
              </a:defRPr>
            </a:pPr>
            <a:r>
              <a:t>  "site_id": 3,</a:t>
            </a:r>
          </a:p>
          <a:p>
            <a:pPr>
              <a:spcAft>
                <a:spcPts val="100"/>
              </a:spcAft>
              <a:defRPr sz="1200">
                <a:solidFill>
                  <a:srgbClr val="0A2540"/>
                </a:solidFill>
                <a:latin typeface="Consolas"/>
              </a:defRPr>
            </a:pPr>
            <a:r>
              <a:t>  "query": "What's the best dry food for a puppy with a sensitive stomach?"</a:t>
            </a:r>
          </a:p>
          <a:p>
            <a:pPr>
              <a:spcAft>
                <a:spcPts val="100"/>
              </a:spcAft>
              <a:defRPr sz="1200">
                <a:solidFill>
                  <a:srgbClr val="0A2540"/>
                </a:solidFill>
                <a:latin typeface="Consolas"/>
              </a:defRPr>
            </a:pPr>
            <a:r>
              <a:t>}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989320" y="1261872"/>
            <a:ext cx="5230368" cy="5074920"/>
          </a:xfrm>
          <a:prstGeom prst="roundRect">
            <a:avLst/>
          </a:prstGeom>
          <a:solidFill>
            <a:srgbClr val="FFFFFF"/>
          </a:solidFill>
          <a:ln w="254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shot-H-swagger-openap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53328" y="1325880"/>
            <a:ext cx="5102352" cy="2880360"/>
          </a:xfrm>
          <a:prstGeom prst="rect">
            <a:avLst/>
          </a:prstGeom>
        </p:spPr>
      </p:pic>
      <p:sp>
        <p:nvSpPr>
          <p:cNvPr id="18" name="Rectangle 17"/>
          <p:cNvSpPr/>
          <p:nvPr/>
        </p:nvSpPr>
        <p:spPr>
          <a:xfrm>
            <a:off x="429768" y="6419088"/>
            <a:ext cx="11761927" cy="438912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6492240"/>
            <a:ext cx="932688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0">
                <a:solidFill>
                  <a:srgbClr val="BFDBFE"/>
                </a:solidFill>
                <a:latin typeface="Arial"/>
              </a:defRPr>
            </a:pPr>
            <a:r>
              <a:t>zooplus Assistant · Coding Task PoC v0.1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55680" y="6473952"/>
            <a:ext cx="86868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500" b="1">
                <a:solidFill>
                  <a:srgbClr val="FFFFFF"/>
                </a:solidFill>
                <a:latin typeface="Arial"/>
              </a:defRPr>
            </a:pPr>
            <a:r>
              <a:t>3</a:t>
            </a:r>
          </a:p>
        </p:txBody>
      </p:sp>
      <p:sp>
        <p:nvSpPr>
          <p:cNvPr id="23" name="TextBox SwaggerCTA"/>
          <p:cNvSpPr txBox="1"/>
          <p:nvPr/>
        </p:nvSpPr>
        <p:spPr>
          <a:xfrm>
            <a:off x="713232" y="4709160"/>
            <a:ext cx="46177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2563EB"/>
                </a:solidFill>
                <a:latin typeface="Arial"/>
              </a:defRPr>
            </a:pPr>
            <a:r>
              <a:t>Live proof: /docs — Try it out with the mandatory brief query above</a:t>
            </a:r>
          </a:p>
        </p:txBody>
      </p:sp>
      <p:sp>
        <p:nvSpPr>
          <p:cNvPr id="24" name="Panel AsyncEvidenceV2"/>
          <p:cNvSpPr/>
          <p:nvPr/>
        </p:nvSpPr>
        <p:spPr>
          <a:xfrm>
            <a:off x="6053328" y="4315968"/>
            <a:ext cx="5102352" cy="1874519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AsyncEvidenceV2"/>
          <p:cNvSpPr txBox="1"/>
          <p:nvPr/>
        </p:nvSpPr>
        <p:spPr>
          <a:xfrm>
            <a:off x="6163056" y="4407408"/>
            <a:ext cx="4892040" cy="1691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1100" b="1">
                <a:solidFill>
                  <a:srgbClr val="16A34A"/>
                </a:solidFill>
                <a:latin typeface="Arial"/>
              </a:defRPr>
            </a:pPr>
            <a:r>
              <a:t>Async evidence (source) — B1 PASS</a:t>
            </a:r>
          </a:p>
          <a:p>
            <a:pPr>
              <a:defRPr sz="1000">
                <a:solidFill>
                  <a:srgbClr val="E2E8F0"/>
                </a:solidFill>
                <a:latin typeface="Consolas"/>
              </a:defRPr>
            </a:pPr>
            <a:r>
              <a:t>@router.post("/chat")</a:t>
            </a:r>
            <a:br/>
            <a:r>
              <a:t>async def chat(body: ChatRequest):</a:t>
            </a:r>
            <a:br/>
            <a:r>
              <a:t>    return await handle_chat(body)</a:t>
            </a:r>
            <a:br/>
            <a:br/>
            <a:r>
              <a:t># B1  tests/acceptance/test_coding_task_brief.py</a:t>
            </a:r>
            <a:br/>
            <a:r>
              <a:t>assert inspect.iscoroutinefunction(chat)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29768" y="0"/>
            <a:ext cx="11761927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29768" y="0"/>
            <a:ext cx="11761927" cy="1115568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29768" y="1115568"/>
            <a:ext cx="11761927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82880"/>
            <a:ext cx="914400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FFFFFF"/>
                </a:solidFill>
                <a:latin typeface="Arial"/>
              </a:defRPr>
            </a:pPr>
            <a:r>
              <a:t>Response &amp; RAG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713232"/>
            <a:ext cx="89611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0">
                <a:solidFill>
                  <a:srgbClr val="BFDBFE"/>
                </a:solidFill>
                <a:latin typeface="Arial"/>
              </a:defRPr>
            </a:pPr>
            <a:r>
              <a:t>FR2 (§2 response) + FR3 (§3 catalog-only RAG)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241280" y="292608"/>
            <a:ext cx="1600200" cy="438912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FR2·FR3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85216" y="1261872"/>
            <a:ext cx="5221224" cy="4864608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353312"/>
            <a:ext cx="50749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  <a:defRPr sz="1800" b="1">
                <a:solidFill>
                  <a:srgbClr val="0A2540"/>
                </a:solidFill>
                <a:latin typeface="Arial"/>
              </a:defRPr>
            </a:pPr>
            <a:r>
              <a:t>FR2 = Structured response: answer + retrieved_products[]</a:t>
            </a:r>
          </a:p>
          <a:p>
            <a:pPr lvl="1">
              <a:lnSpc>
                <a:spcPct val="115000"/>
              </a:lnSpc>
              <a:spcAft>
                <a:spcPts val="800"/>
              </a:spcAft>
              <a:defRPr sz="1800" b="0">
                <a:solidFill>
                  <a:srgbClr val="334155"/>
                </a:solidFill>
                <a:latin typeface="Arial"/>
              </a:defRPr>
            </a:pPr>
            <a:r>
              <a:t>  answer must be conversational and grounded in hits</a:t>
            </a:r>
          </a:p>
          <a:p>
            <a:pPr lvl="1">
              <a:lnSpc>
                <a:spcPct val="115000"/>
              </a:lnSpc>
              <a:spcAft>
                <a:spcPts val="800"/>
              </a:spcAft>
              <a:defRPr sz="1800" b="0">
                <a:solidFill>
                  <a:srgbClr val="334155"/>
                </a:solidFill>
                <a:latin typeface="Arial"/>
              </a:defRPr>
            </a:pPr>
            <a:r>
              <a:t>  each product: article_id, names, price, pet_type, brands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800" b="0">
                <a:solidFill>
                  <a:srgbClr val="0F172A"/>
                </a:solidFill>
                <a:latin typeface="Arial"/>
              </a:defRPr>
            </a:pPr>
            <a:r>
              <a:t>FR3 = Knowledge ONLY from product_catalog_dataset.json</a:t>
            </a:r>
          </a:p>
          <a:p>
            <a:pPr lvl="1">
              <a:lnSpc>
                <a:spcPct val="115000"/>
              </a:lnSpc>
              <a:spcAft>
                <a:spcPts val="800"/>
              </a:spcAft>
              <a:defRPr sz="1800" b="0">
                <a:solidFill>
                  <a:srgbClr val="334155"/>
                </a:solidFill>
                <a:latin typeface="Arial"/>
              </a:defRPr>
            </a:pPr>
            <a:r>
              <a:t>  ingest → Chroma → hybrid retrieve → synthesize · no web/APIs</a:t>
            </a:r>
          </a:p>
          <a:p>
            <a:pPr lvl="1">
              <a:lnSpc>
                <a:spcPct val="115000"/>
              </a:lnSpc>
              <a:spcAft>
                <a:spcPts val="800"/>
              </a:spcAft>
              <a:defRPr sz="1800" b="0">
                <a:solidFill>
                  <a:srgbClr val="334155"/>
                </a:solidFill>
                <a:latin typeface="Arial"/>
              </a:defRPr>
            </a:pPr>
            <a:r>
              <a:t>  300 variants · shops 1/3/15 · max 4 SKUs per turn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53328" y="1252728"/>
            <a:ext cx="5687568" cy="49834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diag-04-rag-pip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08192" y="1307592"/>
            <a:ext cx="5577840" cy="3787184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429768" y="6419088"/>
            <a:ext cx="11761927" cy="438912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6492240"/>
            <a:ext cx="932688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0">
                <a:solidFill>
                  <a:srgbClr val="BFDBFE"/>
                </a:solidFill>
                <a:latin typeface="Arial"/>
              </a:defRPr>
            </a:pPr>
            <a:r>
              <a:t>zooplus Assistant · Coding Task PoC v0.1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0" y="6473952"/>
            <a:ext cx="86868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500" b="1">
                <a:solidFill>
                  <a:srgbClr val="FFFFFF"/>
                </a:solidFill>
                <a:latin typeface="Arial"/>
              </a:defRPr>
            </a:pPr>
            <a: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29768" y="0"/>
            <a:ext cx="11761927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29768" y="0"/>
            <a:ext cx="11761927" cy="1115568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29768" y="1115568"/>
            <a:ext cx="11761927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29768" y="6419088"/>
            <a:ext cx="11761927" cy="438912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182880"/>
            <a:ext cx="914400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3400" b="1">
                <a:solidFill>
                  <a:srgbClr val="FFFFFF"/>
                </a:solidFill>
                <a:latin typeface="Arial"/>
              </a:defRPr>
            </a:pPr>
            <a:r>
              <a:t>Why hybrid retrieval?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713232"/>
            <a:ext cx="804672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700" b="0">
                <a:solidFill>
                  <a:srgbClr val="BFDBFE"/>
                </a:solidFill>
                <a:latin typeface="Arial"/>
              </a:defRPr>
            </a:pPr>
            <a:r>
              <a:t>Chroma vectors + BM25 lexical + business rerank — not vector-only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241280" y="292608"/>
            <a:ext cx="1600200" cy="43891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314432" y="347472"/>
            <a:ext cx="1463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RAG · Hybrid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6492240"/>
            <a:ext cx="932688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0">
                <a:solidFill>
                  <a:srgbClr val="BFDBFE"/>
                </a:solidFill>
                <a:latin typeface="Arial"/>
              </a:defRPr>
            </a:pPr>
            <a:r>
              <a:t>zooplus Assistant — Coding Task PoC v0.1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55680" y="6473952"/>
            <a:ext cx="86868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Arial"/>
              </a:defRPr>
            </a:pPr>
            <a:r>
              <a:t>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9808" y="1417320"/>
            <a:ext cx="5120640" cy="4663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600"/>
              </a:spcAft>
              <a:defRPr sz="1700" b="1">
                <a:solidFill>
                  <a:srgbClr val="0A2540"/>
                </a:solidFill>
                <a:latin typeface="Arial"/>
              </a:defRPr>
            </a:pPr>
            <a:r>
              <a:t>Problem we saw in the catalog</a:t>
            </a:r>
          </a:p>
          <a:p>
            <a:pPr>
              <a:spcAft>
                <a:spcPts val="600"/>
              </a:spcAft>
              <a:defRPr sz="1700" b="0">
                <a:solidFill>
                  <a:srgbClr val="334155"/>
                </a:solidFill>
                <a:latin typeface="Arial"/>
              </a:defRPr>
            </a:pPr>
            <a:r>
              <a:t>• Vector search alone misses exact tokens (brands, SKUs, “grain-free”).</a:t>
            </a:r>
          </a:p>
          <a:p>
            <a:pPr>
              <a:spcAft>
                <a:spcPts val="600"/>
              </a:spcAft>
              <a:defRPr sz="1700" b="0">
                <a:solidFill>
                  <a:srgbClr val="334155"/>
                </a:solidFill>
                <a:latin typeface="Arial"/>
              </a:defRPr>
            </a:pPr>
            <a:r>
              <a:t>• Pure keyword search misses intent (“puppy sensitive stomach”).</a:t>
            </a:r>
          </a:p>
          <a:p>
            <a:pPr>
              <a:spcAft>
                <a:spcPts val="600"/>
              </a:spcAft>
              <a:defRPr sz="1700" b="1">
                <a:solidFill>
                  <a:srgbClr val="0A2540"/>
                </a:solidFill>
                <a:latin typeface="Arial"/>
              </a:defRPr>
            </a:pPr>
            <a:r>
              <a:t>Why this hybrid design</a:t>
            </a:r>
          </a:p>
          <a:p>
            <a:pPr>
              <a:spcAft>
                <a:spcPts val="600"/>
              </a:spcAft>
              <a:defRPr sz="1700" b="0">
                <a:solidFill>
                  <a:srgbClr val="334155"/>
                </a:solidFill>
                <a:latin typeface="Arial"/>
              </a:defRPr>
            </a:pPr>
            <a:r>
              <a:t>• Chroma: semantic candidates from embedded product text (local, no API key).</a:t>
            </a:r>
          </a:p>
          <a:p>
            <a:pPr>
              <a:spcAft>
                <a:spcPts val="600"/>
              </a:spcAft>
              <a:defRPr sz="1700" b="0">
                <a:solidFill>
                  <a:srgbClr val="334155"/>
                </a:solidFill>
                <a:latin typeface="Arial"/>
              </a:defRPr>
            </a:pPr>
            <a:r>
              <a:t>• BM25 on the same candidate pool: lexical match without a second DB.</a:t>
            </a:r>
          </a:p>
          <a:p>
            <a:pPr>
              <a:spcAft>
                <a:spcPts val="600"/>
              </a:spcAft>
              <a:defRPr sz="1700" b="0">
                <a:solidFill>
                  <a:srgbClr val="334155"/>
                </a:solidFill>
                <a:latin typeface="Arial"/>
              </a:defRPr>
            </a:pPr>
            <a:r>
              <a:t>• Fuse 50% vector + 35% BM25 + 15% rating/sales/stock.</a:t>
            </a:r>
          </a:p>
          <a:p>
            <a:pPr>
              <a:spcAft>
                <a:spcPts val="600"/>
              </a:spcAft>
              <a:defRPr sz="1700" b="1">
                <a:solidFill>
                  <a:srgbClr val="0A2540"/>
                </a:solidFill>
                <a:latin typeface="Arial"/>
              </a:defRPr>
            </a:pPr>
            <a:r>
              <a:t>PoC trade-off</a:t>
            </a:r>
          </a:p>
          <a:p>
            <a:pPr>
              <a:spcAft>
                <a:spcPts val="600"/>
              </a:spcAft>
              <a:defRPr sz="1700" b="0">
                <a:solidFill>
                  <a:srgbClr val="334155"/>
                </a:solidFill>
                <a:latin typeface="Arial"/>
              </a:defRPr>
            </a:pPr>
            <a:r>
              <a:t>• Zero extra infra vs hosted vector DB; A/B via ZOOPLUS_RETRIEVAL_MODE=vector.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89320" y="1417320"/>
            <a:ext cx="5394960" cy="4663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600"/>
              </a:spcAft>
              <a:defRPr sz="1700" b="1">
                <a:solidFill>
                  <a:srgbClr val="0A2540"/>
                </a:solidFill>
                <a:latin typeface="Arial"/>
              </a:defRPr>
            </a:pPr>
            <a:r>
              <a:t>Query path (hybrid default)</a:t>
            </a:r>
          </a:p>
          <a:p>
            <a:pPr>
              <a:spcAft>
                <a:spcPts val="600"/>
              </a:spcAft>
              <a:defRPr sz="1700" b="0">
                <a:solidFill>
                  <a:srgbClr val="334155"/>
                </a:solidFill>
                <a:latin typeface="Arial"/>
              </a:defRPr>
            </a:pPr>
            <a:r>
              <a:t>1. Hard filter site_id in Chroma metadata</a:t>
            </a:r>
          </a:p>
          <a:p>
            <a:pPr>
              <a:spcAft>
                <a:spcPts val="600"/>
              </a:spcAft>
              <a:defRPr sz="1700" b="0">
                <a:solidFill>
                  <a:srgbClr val="334155"/>
                </a:solidFill>
                <a:latin typeface="Arial"/>
              </a:defRPr>
            </a:pPr>
            <a:r>
              <a:t>2. Pull candidates — pool scales with price band / requested count</a:t>
            </a:r>
          </a:p>
          <a:p>
            <a:pPr>
              <a:spcAft>
                <a:spcPts val="600"/>
              </a:spcAft>
              <a:defRPr sz="1700" b="0">
                <a:solidFill>
                  <a:srgbClr val="334155"/>
                </a:solidFill>
                <a:latin typeface="Arial"/>
              </a:defRPr>
            </a:pPr>
            <a:r>
              <a:t>3. Score BM25 + business signals on candidate pool</a:t>
            </a:r>
          </a:p>
          <a:p>
            <a:pPr>
              <a:spcAft>
                <a:spcPts val="600"/>
              </a:spcAft>
              <a:defRPr sz="1700" b="0">
                <a:solidFill>
                  <a:srgbClr val="334155"/>
                </a:solidFill>
                <a:latin typeface="Arial"/>
              </a:defRPr>
            </a:pPr>
            <a:r>
              <a:t>4. Rerank → default 4 picks; shopper can ask up to 20</a:t>
            </a:r>
          </a:p>
          <a:p>
            <a:pPr>
              <a:spcAft>
                <a:spcPts val="600"/>
              </a:spcAft>
              <a:defRPr sz="1700" b="1">
                <a:solidFill>
                  <a:srgbClr val="0A2540"/>
                </a:solidFill>
                <a:latin typeface="Arial"/>
              </a:defRPr>
            </a:pPr>
            <a:r>
              <a:t>Stream delivery (v2.1.6)</a:t>
            </a:r>
          </a:p>
          <a:p>
            <a:pPr>
              <a:spcAft>
                <a:spcPts val="600"/>
              </a:spcAft>
              <a:defRPr sz="1700" b="0">
                <a:solidFill>
                  <a:srgbClr val="334155"/>
                </a:solidFill>
                <a:latin typeface="Arial"/>
              </a:defRPr>
            </a:pPr>
            <a:r>
              <a:t>• product_batch NDJSON — UI reveals product cards in chunks of 4</a:t>
            </a:r>
          </a:p>
          <a:p>
            <a:pPr>
              <a:spcAft>
                <a:spcPts val="600"/>
              </a:spcAft>
              <a:defRPr sz="1700" b="0">
                <a:solidFill>
                  <a:srgbClr val="334155"/>
                </a:solidFill>
                <a:latin typeface="Arial"/>
              </a:defRPr>
            </a:pPr>
            <a:r>
              <a:t>• A/B vector-only: ZOOPLUS_RETRIEVAL_MODE=vector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29768" y="0"/>
            <a:ext cx="11761927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29768" y="0"/>
            <a:ext cx="11761927" cy="1115568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29768" y="1115568"/>
            <a:ext cx="11761927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29768" y="6419088"/>
            <a:ext cx="11761927" cy="438912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182880"/>
            <a:ext cx="914400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3400" b="1">
                <a:solidFill>
                  <a:srgbClr val="FFFFFF"/>
                </a:solidFill>
                <a:latin typeface="Arial"/>
              </a:defRPr>
            </a:pPr>
            <a:r>
              <a:t>RAG strategy — end to end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713232"/>
            <a:ext cx="804672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700" b="0">
                <a:solidFill>
                  <a:srgbClr val="BFDBFE"/>
                </a:solidFill>
                <a:latin typeface="Arial"/>
              </a:defRPr>
            </a:pPr>
            <a:r>
              <a:t>Ingest → retrieve → ground → synthesize (catalog-only, site-scoped)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241280" y="292608"/>
            <a:ext cx="1600200" cy="43891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314432" y="347472"/>
            <a:ext cx="1463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FR3 · RAG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6492240"/>
            <a:ext cx="932688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0">
                <a:solidFill>
                  <a:srgbClr val="BFDBFE"/>
                </a:solidFill>
                <a:latin typeface="Arial"/>
              </a:defRPr>
            </a:pPr>
            <a:r>
              <a:t>zooplus Assistant — Coding Task PoC v0.1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55680" y="6473952"/>
            <a:ext cx="86868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Arial"/>
              </a:defRPr>
            </a:pPr>
            <a:r>
              <a:t>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9808" y="1417320"/>
            <a:ext cx="5120640" cy="4663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600"/>
              </a:spcAft>
              <a:defRPr sz="1400" b="1">
                <a:solidFill>
                  <a:srgbClr val="0A2540"/>
                </a:solidFill>
                <a:latin typeface="Arial"/>
              </a:defRPr>
            </a:pPr>
            <a:r>
              <a:t>Ingest (offline)</a:t>
            </a:r>
          </a:p>
          <a:p>
            <a:pPr>
              <a:spcAft>
                <a:spcPts val="600"/>
              </a:spcAft>
              <a:defRPr sz="1400" b="0">
                <a:solidFill>
                  <a:srgbClr val="334155"/>
                </a:solidFill>
                <a:latin typeface="Arial"/>
              </a:defRPr>
            </a:pPr>
            <a:r>
              <a:t>• Source JSON → data/raw (300 variants) · strip HTML.</a:t>
            </a:r>
          </a:p>
          <a:p>
            <a:pPr>
              <a:spcAft>
                <a:spcPts val="600"/>
              </a:spcAft>
              <a:defRPr sz="1400" b="0">
                <a:solidFill>
                  <a:srgbClr val="334155"/>
                </a:solidFill>
                <a:latin typeface="Arial"/>
              </a:defRPr>
            </a:pPr>
            <a:r>
              <a:t>• Chroma per article_id · routing_lexicon.json at ingest.</a:t>
            </a:r>
          </a:p>
          <a:p>
            <a:pPr>
              <a:spcAft>
                <a:spcPts val="600"/>
              </a:spcAft>
              <a:defRPr sz="1400" b="1">
                <a:solidFill>
                  <a:srgbClr val="0A2540"/>
                </a:solidFill>
                <a:latin typeface="Arial"/>
              </a:defRPr>
            </a:pPr>
            <a:r>
              <a:t>Online path (catalog lane)</a:t>
            </a:r>
          </a:p>
          <a:p>
            <a:pPr>
              <a:spcAft>
                <a:spcPts val="600"/>
              </a:spcAft>
              <a:defRPr sz="1400" b="0">
                <a:solidFill>
                  <a:srgbClr val="334155"/>
                </a:solidFill>
                <a:latin typeface="Arial"/>
              </a:defRPr>
            </a:pPr>
            <a:r>
              <a:t>• probe_instant_lane: phrase index + playbook → social | catalog.</a:t>
            </a:r>
          </a:p>
          <a:p>
            <a:pPr>
              <a:spcAft>
                <a:spcPts val="600"/>
              </a:spcAft>
              <a:defRPr sz="1400" b="0">
                <a:solidFill>
                  <a:srgbClr val="334155"/>
                </a:solidFill>
                <a:latin typeface="Arial"/>
              </a:defRPr>
            </a:pPr>
            <a:r>
              <a:t>• Hybrid retrieve → EUR price filter → resolve count from query.</a:t>
            </a:r>
          </a:p>
          <a:p>
            <a:pPr>
              <a:spcAft>
                <a:spcPts val="600"/>
              </a:spcAft>
              <a:defRPr sz="1400" b="1">
                <a:solidFill>
                  <a:srgbClr val="0A2540"/>
                </a:solidFill>
                <a:latin typeface="Arial"/>
              </a:defRPr>
            </a:pPr>
            <a:r>
              <a:t>NDJSON stream (/chat/stream)</a:t>
            </a:r>
          </a:p>
          <a:p>
            <a:pPr>
              <a:spcAft>
                <a:spcPts val="600"/>
              </a:spcAft>
              <a:defRPr sz="1400" b="0">
                <a:solidFill>
                  <a:srgbClr val="334155"/>
                </a:solidFill>
                <a:latin typeface="Arial"/>
              </a:defRPr>
            </a:pPr>
            <a:r>
              <a:t>• typing → chunk* → product_batch* → done (+ meta).</a:t>
            </a:r>
          </a:p>
          <a:p>
            <a:pPr>
              <a:spcAft>
                <a:spcPts val="600"/>
              </a:spcAft>
              <a:defRPr sz="1400" b="0">
                <a:solidFill>
                  <a:srgbClr val="334155"/>
                </a:solidFill>
                <a:latin typeface="Arial"/>
              </a:defRPr>
            </a:pPr>
            <a:r>
              <a:t>• Social/help: no catalog progress; dedupe final vs live chunks.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89320" y="1417320"/>
            <a:ext cx="5394960" cy="4663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600"/>
              </a:spcAft>
              <a:defRPr sz="1400" b="1">
                <a:solidFill>
                  <a:srgbClr val="0A2540"/>
                </a:solidFill>
                <a:latin typeface="Arial"/>
              </a:defRPr>
            </a:pPr>
            <a:r>
              <a:t>Grounding &amp; answer</a:t>
            </a:r>
          </a:p>
          <a:p>
            <a:pPr>
              <a:spcAft>
                <a:spcPts val="600"/>
              </a:spcAft>
              <a:defRPr sz="1400" b="0">
                <a:solidFill>
                  <a:srgbClr val="334155"/>
                </a:solidFill>
                <a:latin typeface="Arial"/>
              </a:defRPr>
            </a:pPr>
            <a:r>
              <a:t>• retrieved_products[] from same site_id hits only.</a:t>
            </a:r>
          </a:p>
          <a:p>
            <a:pPr>
              <a:spcAft>
                <a:spcPts val="600"/>
              </a:spcAft>
              <a:defRPr sz="1400" b="0">
                <a:solidFill>
                  <a:srgbClr val="334155"/>
                </a:solidFill>
                <a:latin typeface="Arial"/>
              </a:defRPr>
            </a:pPr>
            <a:r>
              <a:t>• Off-topic → empty list + polite decline (FR4).</a:t>
            </a:r>
          </a:p>
          <a:p>
            <a:pPr>
              <a:spcAft>
                <a:spcPts val="600"/>
              </a:spcAft>
              <a:defRPr sz="1400" b="0">
                <a:solidFill>
                  <a:srgbClr val="334155"/>
                </a:solidFill>
                <a:latin typeface="Arial"/>
              </a:defRPr>
            </a:pPr>
            <a:r>
              <a:t>• Synthesis: per-agent OpenCode LLM — never invent SKUs.</a:t>
            </a:r>
          </a:p>
          <a:p>
            <a:pPr>
              <a:spcAft>
                <a:spcPts val="600"/>
              </a:spcAft>
              <a:defRPr sz="1400" b="1">
                <a:solidFill>
                  <a:srgbClr val="0A2540"/>
                </a:solidFill>
                <a:latin typeface="Arial"/>
              </a:defRPr>
            </a:pPr>
            <a:r>
              <a:t>v2.1.6 — playbook + smart limits</a:t>
            </a:r>
          </a:p>
          <a:p>
            <a:pPr>
              <a:spcAft>
                <a:spcPts val="600"/>
              </a:spcAft>
              <a:defRPr sz="1400" b="0">
                <a:solidFill>
                  <a:srgbClr val="334155"/>
                </a:solidFill>
                <a:latin typeface="Arial"/>
              </a:defRPr>
            </a:pPr>
            <a:r>
              <a:t>• 4 picks default · shopper can ask for more (e.g. 10 opciones, cap 20).</a:t>
            </a:r>
          </a:p>
          <a:p>
            <a:pPr>
              <a:spcAft>
                <a:spcPts val="600"/>
              </a:spcAft>
              <a:defRPr sz="1400" b="0">
                <a:solidFill>
                  <a:srgbClr val="334155"/>
                </a:solidFill>
                <a:latin typeface="Arial"/>
              </a:defRPr>
            </a:pPr>
            <a:r>
              <a:t>• product_batch stream — cards arrive in chunks of 4 in the UI.</a:t>
            </a:r>
          </a:p>
          <a:p>
            <a:pPr>
              <a:spcAft>
                <a:spcPts val="600"/>
              </a:spcAft>
              <a:defRPr sz="1400" b="0">
                <a:solidFill>
                  <a:srgbClr val="334155"/>
                </a:solidFill>
                <a:latin typeface="Arial"/>
              </a:defRPr>
            </a:pPr>
            <a:r>
              <a:t>• social_phrases.yaml index + playbook auto-learn (help/greeting).</a:t>
            </a:r>
          </a:p>
          <a:p>
            <a:pPr>
              <a:spcAft>
                <a:spcPts val="600"/>
              </a:spcAft>
              <a:defRPr sz="1400" b="0">
                <a:solidFill>
                  <a:srgbClr val="334155"/>
                </a:solidFill>
                <a:latin typeface="Arial"/>
              </a:defRPr>
            </a:pPr>
            <a:r>
              <a:t>• Dynamic species inference (iguana, capibara…) — not a fixed list.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29768" y="0"/>
            <a:ext cx="11761927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29768" y="0"/>
            <a:ext cx="11761927" cy="1115568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29768" y="1115568"/>
            <a:ext cx="11761927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82880"/>
            <a:ext cx="914400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FFFFFF"/>
                </a:solidFill>
                <a:latin typeface="Arial"/>
              </a:defRPr>
            </a:pPr>
            <a:r>
              <a:t>Agentic architecture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713232"/>
            <a:ext cx="89611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0">
                <a:solidFill>
                  <a:srgbClr val="BFDBFE"/>
                </a:solidFill>
                <a:latin typeface="Arial"/>
              </a:defRPr>
            </a:pPr>
            <a:r>
              <a:t>v2.1.6 · phrase-index probe · fast intent · product_batch stream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241280" y="292608"/>
            <a:ext cx="1600200" cy="438912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Agentic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85216" y="1261872"/>
            <a:ext cx="5129784" cy="4864608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400"/>
              </a:spcAft>
              <a:defRPr sz="1400" b="1">
                <a:solidFill>
                  <a:srgbClr val="0A2540"/>
                </a:solidFill>
                <a:latin typeface="Arial"/>
              </a:defRPr>
            </a:pPr>
            <a:r>
              <a:t>Invisible conductor (releases v2.0+)</a:t>
            </a:r>
          </a:p>
          <a:p>
            <a:pPr lvl="1">
              <a:spcAft>
                <a:spcPts val="400"/>
              </a:spcAft>
              <a:defRPr sz="1400" b="0">
                <a:solidFill>
                  <a:srgbClr val="334155"/>
                </a:solidFill>
                <a:latin typeface="Arial"/>
              </a:defRPr>
            </a:pPr>
            <a:r>
              <a:t>• Internal MD playbook — conductor maintains silently.</a:t>
            </a:r>
          </a:p>
          <a:p>
            <a:pPr lvl="1">
              <a:spcAft>
                <a:spcPts val="400"/>
              </a:spcAft>
              <a:defRPr sz="1400" b="0">
                <a:solidFill>
                  <a:srgbClr val="334155"/>
                </a:solidFill>
                <a:latin typeface="Arial"/>
              </a:defRPr>
            </a:pPr>
            <a:r>
              <a:t>• Social turn → one bubble; help asks never hit catalog progress.</a:t>
            </a:r>
          </a:p>
          <a:p>
            <a:pPr lvl="1">
              <a:spcAft>
                <a:spcPts val="400"/>
              </a:spcAft>
              <a:defRPr sz="1400" b="0">
                <a:solidFill>
                  <a:srgbClr val="334155"/>
                </a:solidFill>
                <a:latin typeface="Arial"/>
              </a:defRPr>
            </a:pPr>
            <a:r>
              <a:t>• Catalog turn → ack from query (species, price, lang, count).</a:t>
            </a:r>
          </a:p>
          <a:p>
            <a:pPr lvl="1">
              <a:spcAft>
                <a:spcPts val="400"/>
              </a:spcAft>
              <a:defRPr sz="1400" b="0">
                <a:solidFill>
                  <a:srgbClr val="334155"/>
                </a:solidFill>
                <a:latin typeface="Arial"/>
              </a:defRPr>
            </a:pPr>
            <a:r>
              <a:t>• Dedupe: no re-greeting / no repeated scope in final answer.</a:t>
            </a:r>
          </a:p>
          <a:p>
            <a:pPr>
              <a:spcAft>
                <a:spcPts val="400"/>
              </a:spcAft>
              <a:defRPr sz="1400" b="1">
                <a:solidFill>
                  <a:srgbClr val="0A2540"/>
                </a:solidFill>
                <a:latin typeface="Arial"/>
              </a:defRPr>
            </a:pPr>
            <a:r>
              <a:t>Stream + fast intent (v2.1.3+)</a:t>
            </a:r>
          </a:p>
          <a:p>
            <a:pPr lvl="1">
              <a:spcAft>
                <a:spcPts val="400"/>
              </a:spcAft>
              <a:defRPr sz="1400" b="0">
                <a:solidFill>
                  <a:srgbClr val="334155"/>
                </a:solidFill>
                <a:latin typeface="Arial"/>
              </a:defRPr>
            </a:pPr>
            <a:r>
              <a:t>• Policy + intent-agent first; conductor opt-in (lower latency).</a:t>
            </a:r>
          </a:p>
          <a:p>
            <a:pPr lvl="1">
              <a:spcAft>
                <a:spcPts val="400"/>
              </a:spcAft>
              <a:defRPr sz="1400" b="0">
                <a:solidFill>
                  <a:srgbClr val="334155"/>
                </a:solidFill>
                <a:latin typeface="Arial"/>
              </a:defRPr>
            </a:pPr>
            <a:r>
              <a:t>• Parallel social/catalog · ZOOPLUS_STREAM_MODE=conductor.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998464" y="1252728"/>
            <a:ext cx="5687568" cy="49834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diag-03-intent-st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53328" y="1307592"/>
            <a:ext cx="5577840" cy="3833330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429768" y="6419088"/>
            <a:ext cx="11761927" cy="438912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6492240"/>
            <a:ext cx="932688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0">
                <a:solidFill>
                  <a:srgbClr val="BFDBFE"/>
                </a:solidFill>
                <a:latin typeface="Arial"/>
              </a:defRPr>
            </a:pPr>
            <a:r>
              <a:t>zooplus Assistant · Coding Task PoC v0.1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0" y="6473952"/>
            <a:ext cx="86868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500" b="1">
                <a:solidFill>
                  <a:srgbClr val="FFFFFF"/>
                </a:solidFill>
                <a:latin typeface="Arial"/>
              </a:defRPr>
            </a:pPr>
            <a: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29768" y="0"/>
            <a:ext cx="11761927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29768" y="0"/>
            <a:ext cx="11761927" cy="1115568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29768" y="1115568"/>
            <a:ext cx="11761927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82880"/>
            <a:ext cx="914400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FFFFFF"/>
                </a:solidFill>
                <a:latin typeface="Arial"/>
              </a:defRPr>
            </a:pPr>
            <a:r>
              <a:t>Agents — who responds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713232"/>
            <a:ext cx="89611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0">
                <a:solidFill>
                  <a:srgbClr val="BFDBFE"/>
                </a:solidFill>
                <a:latin typeface="Arial"/>
              </a:defRPr>
            </a:pPr>
            <a:r>
              <a:t>OpenCode specialists: role, output, and cascade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241280" y="292608"/>
            <a:ext cx="1600200" cy="438912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Agents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85216" y="1261872"/>
            <a:ext cx="5038344" cy="4864608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400"/>
              </a:spcAft>
              <a:defRPr sz="1300" b="1">
                <a:solidFill>
                  <a:srgbClr val="0A2540"/>
                </a:solidFill>
                <a:latin typeface="Arial"/>
              </a:defRPr>
            </a:pPr>
            <a:r>
              <a:t>OpenCode specialists</a:t>
            </a:r>
          </a:p>
          <a:p>
            <a:pPr lvl="1">
              <a:spcAft>
                <a:spcPts val="400"/>
              </a:spcAft>
              <a:defRPr sz="1300" b="0">
                <a:solidFill>
                  <a:srgbClr val="334155"/>
                </a:solidFill>
                <a:latin typeface="Arial"/>
              </a:defRPr>
            </a:pPr>
            <a:r>
              <a:t>• zooplus-conductor → playbook + stream orchestration (invisible).</a:t>
            </a:r>
          </a:p>
          <a:p>
            <a:pPr lvl="1">
              <a:spcAft>
                <a:spcPts val="400"/>
              </a:spcAft>
              <a:defRPr sz="1300" b="0">
                <a:solidFill>
                  <a:srgbClr val="334155"/>
                </a:solidFill>
                <a:latin typeface="Arial"/>
              </a:defRPr>
            </a:pPr>
            <a:r>
              <a:t>• social-agent → shopper voice; mid-session help without re-intro.</a:t>
            </a:r>
          </a:p>
          <a:p>
            <a:pPr lvl="1">
              <a:spcAft>
                <a:spcPts val="400"/>
              </a:spcAft>
              <a:defRPr sz="1300" b="0">
                <a:solidFill>
                  <a:srgbClr val="334155"/>
                </a:solidFill>
                <a:latin typeface="Arial"/>
              </a:defRPr>
            </a:pPr>
            <a:r>
              <a:t>• intent / topic-guard → scope filter.</a:t>
            </a:r>
          </a:p>
          <a:p>
            <a:pPr lvl="1">
              <a:spcAft>
                <a:spcPts val="400"/>
              </a:spcAft>
              <a:defRPr sz="1300" b="0">
                <a:solidFill>
                  <a:srgbClr val="334155"/>
                </a:solidFill>
                <a:latin typeface="Arial"/>
              </a:defRPr>
            </a:pPr>
            <a:r>
              <a:t>• rag + logic + synthesis → grounded catalog answer.</a:t>
            </a:r>
          </a:p>
          <a:p>
            <a:pPr>
              <a:spcAft>
                <a:spcPts val="400"/>
              </a:spcAft>
              <a:defRPr sz="1300" b="1">
                <a:solidFill>
                  <a:srgbClr val="0A2540"/>
                </a:solidFill>
                <a:latin typeface="Arial"/>
              </a:defRPr>
            </a:pPr>
            <a:r>
              <a:t>Phrase index + language</a:t>
            </a:r>
          </a:p>
          <a:p>
            <a:pPr lvl="1">
              <a:spcAft>
                <a:spcPts val="400"/>
              </a:spcAft>
              <a:defRPr sz="1300" b="0">
                <a:solidFill>
                  <a:srgbClr val="334155"/>
                </a:solidFill>
                <a:latin typeface="Arial"/>
              </a:defRPr>
            </a:pPr>
            <a:r>
              <a:t>• ~90 curated social phrases (ES/EN/DE/FR) — fast in-memory match.</a:t>
            </a:r>
          </a:p>
          <a:p>
            <a:pPr lvl="1">
              <a:spcAft>
                <a:spcPts val="400"/>
              </a:spcAft>
              <a:defRPr sz="1300" b="0">
                <a:solidFill>
                  <a:srgbClr val="334155"/>
                </a:solidFill>
                <a:latin typeface="Arial"/>
              </a:defRPr>
            </a:pPr>
            <a:r>
              <a:t>• Agent mirrors shopper language; playbook learns novel phrases.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961888" y="1252728"/>
            <a:ext cx="5687568" cy="49834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diag-05-agents-inter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16752" y="1307592"/>
            <a:ext cx="5577840" cy="4053690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429768" y="6419088"/>
            <a:ext cx="11761927" cy="438912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6492240"/>
            <a:ext cx="932688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0">
                <a:solidFill>
                  <a:srgbClr val="BFDBFE"/>
                </a:solidFill>
                <a:latin typeface="Arial"/>
              </a:defRPr>
            </a:pPr>
            <a:r>
              <a:t>zooplus Assistant · Coding Task PoC v0.1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0" y="6473952"/>
            <a:ext cx="86868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500" b="1">
                <a:solidFill>
                  <a:srgbClr val="FFFFFF"/>
                </a:solidFill>
                <a:latin typeface="Arial"/>
              </a:defRPr>
            </a:pPr>
            <a: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29768" y="0"/>
            <a:ext cx="11761927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29768" y="0"/>
            <a:ext cx="11761927" cy="1115568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29768" y="1115568"/>
            <a:ext cx="11761927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82880"/>
            <a:ext cx="914400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FFFFFF"/>
                </a:solidFill>
                <a:latin typeface="Arial"/>
              </a:defRPr>
            </a:pPr>
            <a:r>
              <a:t>Guardrails + demo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713232"/>
            <a:ext cx="89611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0">
                <a:solidFill>
                  <a:srgbClr val="BFDBFE"/>
                </a:solidFill>
                <a:latin typeface="Arial"/>
              </a:defRPr>
            </a:pPr>
            <a:r>
              <a:t>FR4 — Functional Requirement 4: Pet-only scope (Coding Task §4)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241280" y="292608"/>
            <a:ext cx="1600200" cy="438912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FR4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85216" y="1261872"/>
            <a:ext cx="5312664" cy="4864608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400"/>
              </a:spcAft>
              <a:defRPr sz="1400" b="1">
                <a:solidFill>
                  <a:srgbClr val="0A2540"/>
                </a:solidFill>
                <a:latin typeface="Arial"/>
              </a:defRPr>
            </a:pPr>
            <a:r>
              <a:t>FR4 guardrails + live demo</a:t>
            </a:r>
          </a:p>
          <a:p>
            <a:pPr lvl="1">
              <a:spcAft>
                <a:spcPts val="400"/>
              </a:spcAft>
              <a:defRPr sz="1400" b="0">
                <a:solidFill>
                  <a:srgbClr val="334155"/>
                </a:solidFill>
                <a:latin typeface="Arial"/>
              </a:defRPr>
            </a:pPr>
            <a:r>
              <a:t>• Pet catalog only · default-deny off-topic.</a:t>
            </a:r>
          </a:p>
          <a:p>
            <a:pPr>
              <a:spcAft>
                <a:spcPts val="400"/>
              </a:spcAft>
              <a:defRPr sz="1400" b="1">
                <a:solidFill>
                  <a:srgbClr val="0A2540"/>
                </a:solidFill>
                <a:latin typeface="Arial"/>
              </a:defRPr>
            </a:pPr>
            <a:r>
              <a:t>Demo — v2.1.6 smart loop</a:t>
            </a:r>
          </a:p>
          <a:p>
            <a:pPr lvl="1">
              <a:spcAft>
                <a:spcPts val="400"/>
              </a:spcAft>
              <a:defRPr sz="1400" b="0">
                <a:solidFill>
                  <a:srgbClr val="334155"/>
                </a:solidFill>
                <a:latin typeface="Arial"/>
              </a:defRPr>
            </a:pPr>
            <a:r>
              <a:t>• A: me puedes ayudar → social help, no catalog progress.</a:t>
            </a:r>
          </a:p>
          <a:p>
            <a:pPr lvl="1">
              <a:spcAft>
                <a:spcPts val="400"/>
              </a:spcAft>
              <a:defRPr sz="1400" b="0">
                <a:solidFill>
                  <a:srgbClr val="334155"/>
                </a:solidFill>
                <a:latin typeface="Arial"/>
              </a:defRPr>
            </a:pPr>
            <a:r>
              <a:t>• B: y para iguanas → scope reply, no duplicate Hola intro.</a:t>
            </a:r>
          </a:p>
          <a:p>
            <a:pPr lvl="1">
              <a:spcAft>
                <a:spcPts val="400"/>
              </a:spcAft>
              <a:defRPr sz="1400" b="0">
                <a:solidFill>
                  <a:srgbClr val="334155"/>
                </a:solidFill>
                <a:latin typeface="Arial"/>
              </a:defRPr>
            </a:pPr>
            <a:r>
              <a:t>• C: dame 10 opciones perros → up to 10 cards in batches.</a:t>
            </a:r>
          </a:p>
          <a:p>
            <a:pPr lvl="1">
              <a:spcAft>
                <a:spcPts val="400"/>
              </a:spcAft>
              <a:defRPr sz="1400" b="0">
                <a:solidFill>
                  <a:srgbClr val="334155"/>
                </a:solidFill>
                <a:latin typeface="Arial"/>
              </a:defRPr>
            </a:pPr>
            <a:r>
              <a:t>• http://127.0.0.1:8090/ui/ — shop Spain (15).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25896" y="1252728"/>
            <a:ext cx="5687568" cy="49834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shot-G-guardrails-multila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0760" y="1307592"/>
            <a:ext cx="5577840" cy="6111500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429768" y="6419088"/>
            <a:ext cx="11761927" cy="438912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6492240"/>
            <a:ext cx="932688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0">
                <a:solidFill>
                  <a:srgbClr val="BFDBFE"/>
                </a:solidFill>
                <a:latin typeface="Arial"/>
              </a:defRPr>
            </a:pPr>
            <a:r>
              <a:t>zooplus Assistant · Coding Task PoC v0.1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0" y="6473952"/>
            <a:ext cx="86868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500" b="1">
                <a:solidFill>
                  <a:srgbClr val="FFFFFF"/>
                </a:solidFill>
                <a:latin typeface="Arial"/>
              </a:defRPr>
            </a:pPr>
            <a: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29768" y="0"/>
            <a:ext cx="11761927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29768" y="0"/>
            <a:ext cx="11761927" cy="1115568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29768" y="1115568"/>
            <a:ext cx="11761927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82880"/>
            <a:ext cx="914400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FFFFFF"/>
                </a:solidFill>
                <a:latin typeface="Arial"/>
              </a:defRPr>
            </a:pPr>
            <a:r>
              <a:t>Production layout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713232"/>
            <a:ext cx="89611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0">
                <a:solidFill>
                  <a:srgbClr val="BFDBFE"/>
                </a:solidFill>
                <a:latin typeface="Arial"/>
              </a:defRPr>
            </a:pPr>
            <a:r>
              <a:t>FR5 — Functional Requirement 5: Production design (Coding Task §5)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241280" y="292608"/>
            <a:ext cx="1600200" cy="438912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FR5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85216" y="1261872"/>
            <a:ext cx="5541264" cy="4864608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353312"/>
            <a:ext cx="53949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  <a:defRPr sz="2000" b="1">
                <a:solidFill>
                  <a:srgbClr val="0A2540"/>
                </a:solidFill>
                <a:latin typeface="Arial"/>
              </a:defRPr>
            </a:pPr>
            <a:r>
              <a:t>FR5 = Production-oriented PoC: cli/ · src/ · tests/ · Docker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2000" b="0">
                <a:solidFill>
                  <a:srgbClr val="0F172A"/>
                </a:solidFill>
                <a:latin typeface="Arial"/>
              </a:defRPr>
            </a:pPr>
            <a:r>
              <a:t>README submission: Design · Setup · Trade-offs · Roadmap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2000" b="0">
                <a:solidFill>
                  <a:srgbClr val="0F172A"/>
                </a:solidFill>
                <a:latin typeface="Arial"/>
              </a:defRPr>
            </a:pPr>
            <a:r>
              <a:t>OpenCode agents internal — not in shopper API contract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2000" b="0">
                <a:solidFill>
                  <a:srgbClr val="0F172A"/>
                </a:solidFill>
                <a:latin typeface="Arial"/>
              </a:defRPr>
            </a:pPr>
            <a:r>
              <a:t>Verify: scripts/run_release_verify.ps1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81344" y="1252728"/>
            <a:ext cx="5687568" cy="49834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diag-10-project-stru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36208" y="1307592"/>
            <a:ext cx="5577840" cy="4196783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429768" y="6419088"/>
            <a:ext cx="11761927" cy="438912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6492240"/>
            <a:ext cx="932688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0">
                <a:solidFill>
                  <a:srgbClr val="BFDBFE"/>
                </a:solidFill>
                <a:latin typeface="Arial"/>
              </a:defRPr>
            </a:pPr>
            <a:r>
              <a:t>zooplus Assistant · Coding Task PoC v0.1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0" y="6473952"/>
            <a:ext cx="86868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500" b="1">
                <a:solidFill>
                  <a:srgbClr val="FFFFFF"/>
                </a:solidFill>
                <a:latin typeface="Arial"/>
              </a:defRPr>
            </a:pPr>
            <a: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29768" y="0"/>
            <a:ext cx="11761927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29768" y="0"/>
            <a:ext cx="11761927" cy="1115568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29768" y="1115568"/>
            <a:ext cx="11761927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82880"/>
            <a:ext cx="914400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FFFFFF"/>
                </a:solidFill>
                <a:latin typeface="Arial"/>
              </a:defRPr>
            </a:pPr>
            <a:r>
              <a:t>Roadmap — trust &amp; quality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713232"/>
            <a:ext cx="89611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0">
                <a:solidFill>
                  <a:srgbClr val="BFDBFE"/>
                </a:solidFill>
                <a:latin typeface="Arial"/>
              </a:defRPr>
            </a:pPr>
            <a:r>
              <a:t>Phase 1 · P0 — security and better filters (items 2–3)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241280" y="292608"/>
            <a:ext cx="1600200" cy="438912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P0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85216" y="1261872"/>
            <a:ext cx="5358384" cy="4864608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353312"/>
            <a:ext cx="52120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  <a:defRPr sz="2000" b="1">
                <a:solidFill>
                  <a:srgbClr val="0A2540"/>
                </a:solidFill>
                <a:latin typeface="Arial"/>
              </a:defRPr>
            </a:pPr>
            <a:r>
              <a:t>Why first: FR4 guardrails must survive prompt injection and policy drift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2000" b="0">
                <a:solidFill>
                  <a:srgbClr val="0F172A"/>
                </a:solidFill>
                <a:latin typeface="Arial"/>
              </a:defRPr>
            </a:pPr>
            <a:r>
              <a:t>Constraints v2: versioned YAML + injection scanner + security CI gate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2000" b="0">
                <a:solidFill>
                  <a:srgbClr val="0F172A"/>
                </a:solidFill>
                <a:latin typeface="Arial"/>
              </a:defRPr>
            </a:pPr>
            <a:r>
              <a:t>Intent facets: pet_type, price band, category in JSON → deterministic RAG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2000" b="0">
                <a:solidFill>
                  <a:srgbClr val="0F172A"/>
                </a:solidFill>
                <a:latin typeface="Arial"/>
              </a:defRPr>
            </a:pPr>
            <a:r>
              <a:t>Fixes real gaps (e.g. wrong species in results) before more traffic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2000" b="0">
                <a:solidFill>
                  <a:srgbClr val="0F172A"/>
                </a:solidFill>
                <a:latin typeface="Arial"/>
              </a:defRPr>
            </a:pPr>
            <a:r>
              <a:t>Detail: docs/FUTURE_IMPROVEMENTS.md §2–§3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53328" y="1252728"/>
            <a:ext cx="5687568" cy="49834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diag-06-quality-pyra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08192" y="1307592"/>
            <a:ext cx="5577840" cy="3887211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429768" y="6419088"/>
            <a:ext cx="11761927" cy="438912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6492240"/>
            <a:ext cx="932688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0">
                <a:solidFill>
                  <a:srgbClr val="BFDBFE"/>
                </a:solidFill>
                <a:latin typeface="Arial"/>
              </a:defRPr>
            </a:pPr>
            <a:r>
              <a:t>zooplus Assistant · Coding Task PoC v0.1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0" y="6473952"/>
            <a:ext cx="86868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500" b="1">
                <a:solidFill>
                  <a:srgbClr val="FFFFFF"/>
                </a:solidFill>
                <a:latin typeface="Arial"/>
              </a:defRPr>
            </a:pPr>
            <a: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29768" y="0"/>
            <a:ext cx="11761927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29768" y="0"/>
            <a:ext cx="11761927" cy="1115568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29768" y="1115568"/>
            <a:ext cx="11761927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82880"/>
            <a:ext cx="914400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FFFFFF"/>
                </a:solidFill>
                <a:latin typeface="Arial"/>
              </a:defRPr>
            </a:pPr>
            <a:r>
              <a:t>Roadmap — scale &amp; fresh catalog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713232"/>
            <a:ext cx="89611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0">
                <a:solidFill>
                  <a:srgbClr val="BFDBFE"/>
                </a:solidFill>
                <a:latin typeface="Arial"/>
              </a:defRPr>
            </a:pPr>
            <a:r>
              <a:t>Phase 2 · P1 — operations (items 8–9–4–5)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241280" y="292608"/>
            <a:ext cx="1600200" cy="438912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P1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85216" y="1261872"/>
            <a:ext cx="5221224" cy="4864608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353312"/>
            <a:ext cx="50749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  <a:defRPr sz="1800" b="1">
                <a:solidFill>
                  <a:srgbClr val="0A2540"/>
                </a:solidFill>
                <a:latin typeface="Arial"/>
              </a:defRPr>
            </a:pPr>
            <a:r>
              <a:t>Why: stale vectors = wrong prices; single node cannot serve many users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800" b="0">
                <a:solidFill>
                  <a:srgbClr val="0F172A"/>
                </a:solidFill>
                <a:latin typeface="Arial"/>
              </a:defRPr>
            </a:pPr>
            <a:r>
              <a:t>RAG re-ingest: scheduled catalog sync → blue/green vector index swap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800" b="0">
                <a:solidFill>
                  <a:srgbClr val="0F172A"/>
                </a:solidFill>
                <a:latin typeface="Arial"/>
              </a:defRPr>
            </a:pPr>
            <a:r>
              <a:t>Concurrency: stateless API replicas · queue for process lane · rate limits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800" b="0">
                <a:solidFill>
                  <a:srgbClr val="0F172A"/>
                </a:solidFill>
                <a:latin typeface="Arial"/>
              </a:defRPr>
            </a:pPr>
            <a:r>
              <a:t>LLM: HTTP provider in workers (OpenCode stays for local dev/demo)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800" b="0">
                <a:solidFill>
                  <a:srgbClr val="0F172A"/>
                </a:solidFill>
                <a:latin typeface="Arial"/>
              </a:defRPr>
            </a:pPr>
            <a:r>
              <a:t>MCP server for external agents · ACP bus for internal agent choreography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25896" y="1252728"/>
            <a:ext cx="5687568" cy="49834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diag-07-deploym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0760" y="1307592"/>
            <a:ext cx="5577840" cy="3615266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429768" y="6419088"/>
            <a:ext cx="11761927" cy="438912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6492240"/>
            <a:ext cx="932688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0">
                <a:solidFill>
                  <a:srgbClr val="BFDBFE"/>
                </a:solidFill>
                <a:latin typeface="Arial"/>
              </a:defRPr>
            </a:pPr>
            <a:r>
              <a:t>zooplus Assistant · Coding Task PoC v0.1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0" y="6473952"/>
            <a:ext cx="86868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500" b="1">
                <a:solidFill>
                  <a:srgbClr val="FFFFFF"/>
                </a:solidFill>
                <a:latin typeface="Arial"/>
              </a:defRPr>
            </a:pPr>
            <a: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29768" y="0"/>
            <a:ext cx="11761927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29768" y="0"/>
            <a:ext cx="11761927" cy="1115568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29768" y="1115568"/>
            <a:ext cx="11761927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82880"/>
            <a:ext cx="914400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FFFFFF"/>
                </a:solidFill>
                <a:latin typeface="Arial"/>
              </a:defRPr>
            </a:pPr>
            <a:r>
              <a:t>Roadmap — product channels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713232"/>
            <a:ext cx="89611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0">
                <a:solidFill>
                  <a:srgbClr val="BFDBFE"/>
                </a:solidFill>
                <a:latin typeface="Arial"/>
              </a:defRPr>
            </a:pPr>
            <a:r>
              <a:t>Phase 3 · P2–P3 — after core is stable (items 7–1–6)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241280" y="292608"/>
            <a:ext cx="1600200" cy="438912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Later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85216" y="1261872"/>
            <a:ext cx="5266944" cy="4864608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353312"/>
            <a:ext cx="51206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  <a:defRPr sz="1800" b="1">
                <a:solidFill>
                  <a:srgbClr val="0A2540"/>
                </a:solidFill>
                <a:latin typeface="Arial"/>
              </a:defRPr>
            </a:pPr>
            <a:r>
              <a:t>Image search: user photo → vision embedding → catalog-only RAG (no web)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800" b="0">
                <a:solidFill>
                  <a:srgbClr val="0F172A"/>
                </a:solidFill>
                <a:latin typeface="Arial"/>
              </a:defRPr>
            </a:pPr>
            <a:r>
              <a:t>Promo slots on /chat/stream while long RAG runs (feature-flagged ads)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800" b="0">
                <a:solidFill>
                  <a:srgbClr val="0F172A"/>
                </a:solidFill>
                <a:latin typeface="Arial"/>
              </a:defRPr>
            </a:pPr>
            <a:r>
              <a:t>Voice: STT/TTS wrapper — same POST /chat contract, new UI channel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800" b="0">
                <a:solidFill>
                  <a:srgbClr val="0F172A"/>
                </a:solidFill>
                <a:latin typeface="Arial"/>
              </a:defRPr>
            </a:pPr>
            <a:r>
              <a:t>Priority order: 2→3→8→9→4→5→7→1→6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800" b="0">
                <a:solidFill>
                  <a:srgbClr val="0F172A"/>
                </a:solidFill>
                <a:latin typeface="Arial"/>
              </a:defRPr>
            </a:pPr>
            <a:r>
              <a:t>Q&amp;A — full doc: docs/FUTURE_IMPROVEMENTS.md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71616" y="1252728"/>
            <a:ext cx="5687568" cy="49834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diag-01-contain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0" y="1307592"/>
            <a:ext cx="5577840" cy="4053690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429768" y="6419088"/>
            <a:ext cx="11761927" cy="438912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6492240"/>
            <a:ext cx="932688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0">
                <a:solidFill>
                  <a:srgbClr val="BFDBFE"/>
                </a:solidFill>
                <a:latin typeface="Arial"/>
              </a:defRPr>
            </a:pPr>
            <a:r>
              <a:t>zooplus Assistant · Coding Task PoC v0.1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0" y="6473952"/>
            <a:ext cx="86868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500" b="1">
                <a:solidFill>
                  <a:srgbClr val="FFFFFF"/>
                </a:solidFill>
                <a:latin typeface="Arial"/>
              </a:defRPr>
            </a:pPr>
            <a: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29768" y="0"/>
            <a:ext cx="11761927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29768" y="0"/>
            <a:ext cx="11761927" cy="1115568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29768" y="1115568"/>
            <a:ext cx="11761927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29768" y="6419088"/>
            <a:ext cx="11761927" cy="438912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182880"/>
            <a:ext cx="914400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3400" b="1">
                <a:solidFill>
                  <a:srgbClr val="FFFFFF"/>
                </a:solidFill>
                <a:latin typeface="Arial"/>
              </a:defRPr>
            </a:pPr>
            <a:r>
              <a:t>Release progress — v0.1.0 → v2.1.6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713232"/>
            <a:ext cx="804672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700" b="0">
                <a:solidFill>
                  <a:srgbClr val="BFDBFE"/>
                </a:solidFill>
                <a:latin typeface="Arial"/>
              </a:defRPr>
            </a:pPr>
            <a:r>
              <a:t>Same five FRs · smarter social routing, flexible picks, chunked UX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241280" y="292608"/>
            <a:ext cx="1600200" cy="43891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314432" y="347472"/>
            <a:ext cx="1463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Progress · releases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6492240"/>
            <a:ext cx="932688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0">
                <a:solidFill>
                  <a:srgbClr val="BFDBFE"/>
                </a:solidFill>
                <a:latin typeface="Arial"/>
              </a:defRPr>
            </a:pPr>
            <a:r>
              <a:t>zooplus Assistant — releases v2.1.6 · progress since v0.1.0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55680" y="6473952"/>
            <a:ext cx="86868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Arial"/>
              </a:defRPr>
            </a:pPr>
            <a:r>
              <a:t>14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85216" y="1261872"/>
            <a:ext cx="10972800" cy="498348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9808" y="1417320"/>
            <a:ext cx="5349240" cy="4663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600"/>
              </a:spcAft>
              <a:defRPr sz="1500" b="1">
                <a:solidFill>
                  <a:srgbClr val="0A2540"/>
                </a:solidFill>
                <a:latin typeface="Arial"/>
              </a:defRPr>
            </a:pPr>
            <a:r>
              <a:t>Foundation — v0.1.0 → v1.0</a:t>
            </a:r>
          </a:p>
          <a:p>
            <a:pPr>
              <a:spcAft>
                <a:spcPts val="600"/>
              </a:spcAft>
              <a:defRPr sz="1500" b="0">
                <a:solidFill>
                  <a:srgbClr val="334155"/>
                </a:solidFill>
                <a:latin typeface="Arial"/>
              </a:defRPr>
            </a:pPr>
            <a:r>
              <a:t>v0.1.0 — Coding Task PoC: FR1–5, hybrid RAG, FR4 guardrails.</a:t>
            </a:r>
          </a:p>
          <a:p>
            <a:pPr>
              <a:spcAft>
                <a:spcPts val="600"/>
              </a:spcAft>
              <a:defRPr sz="1500" b="0">
                <a:solidFill>
                  <a:srgbClr val="334155"/>
                </a:solidFill>
                <a:latin typeface="Arial"/>
              </a:defRPr>
            </a:pPr>
            <a:r>
              <a:t>v0.1.3 — Conductor-first routing; /chat/stream; per-agent OpenCode.</a:t>
            </a:r>
          </a:p>
          <a:p>
            <a:pPr>
              <a:spcAft>
                <a:spcPts val="600"/>
              </a:spcAft>
              <a:defRPr sz="1500" b="0">
                <a:solidFill>
                  <a:srgbClr val="334155"/>
                </a:solidFill>
                <a:latin typeface="Arial"/>
              </a:defRPr>
            </a:pPr>
            <a:r>
              <a:t>v1.0 — Stable tag: catalog lexicon at ingest, cache, multilingual.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26480" y="1417320"/>
            <a:ext cx="5257800" cy="4663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600"/>
              </a:spcAft>
              <a:defRPr sz="1500" b="1">
                <a:solidFill>
                  <a:srgbClr val="0A2540"/>
                </a:solidFill>
                <a:latin typeface="Arial"/>
              </a:defRPr>
            </a:pPr>
            <a:r>
              <a:t>Shopper experience — v1.4 → v2.1.6 (now)</a:t>
            </a:r>
          </a:p>
          <a:p>
            <a:pPr>
              <a:spcAft>
                <a:spcPts val="600"/>
              </a:spcAft>
              <a:defRPr sz="1500" b="0">
                <a:solidFill>
                  <a:srgbClr val="334155"/>
                </a:solidFill>
                <a:latin typeface="Arial"/>
              </a:defRPr>
            </a:pPr>
            <a:r>
              <a:t>v2.1 — Playbook MD; social/catalog probe; agent-multilingual.</a:t>
            </a:r>
          </a:p>
          <a:p>
            <a:pPr>
              <a:spcAft>
                <a:spcPts val="600"/>
              </a:spcAft>
              <a:defRPr sz="1500" b="0">
                <a:solidFill>
                  <a:srgbClr val="334155"/>
                </a:solidFill>
                <a:latin typeface="Arial"/>
              </a:defRPr>
            </a:pPr>
            <a:r>
              <a:t>v2.1.3 — Fast intent-first stream; conductor intent opt-in.</a:t>
            </a:r>
          </a:p>
          <a:p>
            <a:pPr>
              <a:spcAft>
                <a:spcPts val="600"/>
              </a:spcAft>
              <a:defRPr sz="1500" b="0">
                <a:solidFill>
                  <a:srgbClr val="334155"/>
                </a:solidFill>
                <a:latin typeface="Arial"/>
              </a:defRPr>
            </a:pPr>
            <a:r>
              <a:t>v2.1.4–5 — Species inference; help/saludo detect + dedupe.</a:t>
            </a:r>
          </a:p>
          <a:p>
            <a:pPr>
              <a:spcAft>
                <a:spcPts val="600"/>
              </a:spcAft>
              <a:defRPr sz="1500" b="0">
                <a:solidFill>
                  <a:srgbClr val="334155"/>
                </a:solidFill>
                <a:latin typeface="Arial"/>
              </a:defRPr>
            </a:pPr>
            <a:r>
              <a:t>v2.1.6 — Dynamic count (4→20); phrase index; product_batch UI.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