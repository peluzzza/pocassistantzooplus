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7" r:id="rId19"/>
    <p:sldId id="268" r:id="rId20"/>
    <p:sldId id="260" r:id="rId12"/>
    <p:sldId id="261" r:id="rId13"/>
    <p:sldId id="262" r:id="rId14"/>
    <p:sldId id="263" r:id="rId15"/>
    <p:sldId id="270" r:id="rId22"/>
    <p:sldId id="271" r:id="rId23"/>
    <p:sldId id="272" r:id="rId24"/>
    <p:sldId id="264" r:id="rId16"/>
    <p:sldId id="265" r:id="rId17"/>
    <p:sldId id="266" r:id="rId18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17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/>
            </a:pPr>
            <a:r>
              <a:t>Verified live: cache-hit speedup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Response time (seconds)</c:v>
                </c:pt>
              </c:strCache>
            </c:strRef>
          </c:tx>
          <c:spPr>
            <a:solidFill>
              <a:srgbClr val="60A5FA"/>
            </a:solidFill>
          </c:spPr>
          <c:cat>
            <c:strRef>
              <c:f>Sheet1!$A$2:$A$3</c:f>
              <c:strCache>
                <c:ptCount val="2"/>
                <c:pt idx="0">
                  <c:v>Cache miss
(cold, real OpenCode call)</c:v>
                </c:pt>
                <c:pt idx="1">
                  <c:v>Cache hit
(repeat query)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19.2</c:v>
                </c:pt>
                <c:pt idx="1">
                  <c:v>0.02</c:v>
                </c:pt>
              </c:numCache>
            </c:numRef>
          </c:val>
        </c:ser>
        <c:dLbls>
          <c:numFmt formatCode="0.00&quot;s&quot;" sourceLinked="0"/>
          <c:txPr>
            <a:bodyPr/>
            <a:lstStyle/>
            <a:p>
              <a:pPr>
                <a:defRPr sz="1200" b="1">
                  <a:solidFill>
                    <a:srgbClr val="0A2540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1000"/>
                </a:pPr>
                <a:r>
                  <a:t>Seconds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30s: PoC scope from Coding Task.docx — five functional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Explain FR acronym once. Point to docx sections 1-5. Then walk FR1 on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60s: Show Swagger /docs (screenshot). Expand POST /chat. Run docx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min: Map each bullet to Coding Task §2 and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Walk diagram. Default-deny before Chroma.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Name each agent and allowed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 demo — tie steps to intent lanes (agentic slides).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min: FR5 + README four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Tie to FR4 and evaluation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Managed Chroma/Pinecone + Cloud Run mental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 + Q&amp;A. Emphasize same API contract for voice and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462272" y="0"/>
            <a:ext cx="128016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FFFF"/>
                </a:solidFill>
                <a:latin typeface="Arial"/>
              </a:defRPr>
            </a:pPr>
            <a:r>
              <a:t>zooplus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0">
                <a:solidFill>
                  <a:srgbClr val="BFDBFE"/>
                </a:solidFill>
                <a:latin typeface="Arial"/>
              </a:defRPr>
            </a:pPr>
            <a:r>
              <a:t>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920240"/>
            <a:ext cx="6858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F172A"/>
                </a:solidFill>
                <a:latin typeface="Arial"/>
              </a:defRPr>
            </a:pPr>
            <a:r>
              <a:t>Senior AI Engineer take-home</a:t>
            </a:r>
          </a:p>
          <a:p>
            <a:pPr>
              <a:spcAft>
                <a:spcPts val="600"/>
              </a:spcAft>
              <a:defRPr sz="1900" b="0">
                <a:solidFill>
                  <a:srgbClr val="334155"/>
                </a:solidFill>
                <a:latin typeface="Arial"/>
              </a:defRPr>
            </a:pPr>
            <a:r>
              <a:t>15-minute walkthrough · see slide 2 for FR1–FR5</a:t>
            </a:r>
          </a:p>
          <a:p>
            <a:pPr>
              <a:spcAft>
                <a:spcPts val="600"/>
              </a:spcAft>
              <a:defRPr sz="1900" b="0">
                <a:solidFill>
                  <a:srgbClr val="0F172A"/>
                </a:solidFill>
                <a:latin typeface="Arial"/>
              </a:defRPr>
            </a:pPr>
            <a:r>
              <a:t>peluzzza/PoCAssistantZooplus · releases · v0.1.0</a:t>
            </a:r>
          </a:p>
          <a:p>
            <a:pPr>
              <a:spcAft>
                <a:spcPts val="600"/>
              </a:spcAft>
              <a:defRPr sz="1900" b="0">
                <a:solidFill>
                  <a:srgbClr val="1E3A8A"/>
                </a:solidFill>
                <a:latin typeface="Arial"/>
              </a:defRPr>
            </a:pPr>
            <a:r>
              <a:t>Async RAG · agentic lanes · catalog-only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Coding Task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 = Functional Requirement from Coding Task.docx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§1–§5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07007"/>
            <a:ext cx="67299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298448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FR1 — Functional Requirement 1: Async FastAPI POST /chat (site_id + query)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FR2 — Functional Requirement 2: answer + retrieved_products (grounded)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FR3 — Functional Requirement 3: RAG only from product_catalog_dataset.json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FR4 — Functional Requirement 4: pet products only; off-topic decline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FR5 — Functional Requirement 5: production-oriented repo + README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Plus: agentic architecture (slides 5–6) — evaluation story, not an FR number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0376" y="1362456"/>
            <a:ext cx="427024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0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17320"/>
            <a:ext cx="4160520" cy="285928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API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FR1 — Functional Requirement 1: async FastAPI + POST /chat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4892040" cy="5074920"/>
          </a:xfrm>
          <a:prstGeom prst="rect">
            <a:avLst/>
          </a:prstGeom>
          <a:solidFill>
            <a:srgbClr val="F8FAF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389888"/>
            <a:ext cx="4617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FR1 — Async FastAPI · POST /chat { site_id, query }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async def chat() → await handle_chat()  (routes/chat.py)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Orchestrator async; Chroma/intent via asyncio.to_thread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Deploy: uvicorn ASGI  ·  Test B1: iscoroutinefunction(chat)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310128"/>
            <a:ext cx="4617720" cy="1234440"/>
          </a:xfrm>
          <a:prstGeom prst="rect">
            <a:avLst/>
          </a:prstGeom>
          <a:solidFill>
            <a:srgbClr val="E0F2F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456432"/>
            <a:ext cx="4343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"site_id": 3,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"query": "What's the best dry food for a puppy with a sensitive stomach?"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261872"/>
            <a:ext cx="5230368" cy="5074920"/>
          </a:xfrm>
          <a:prstGeom prst="roundRect">
            <a:avLst/>
          </a:prstGeom>
          <a:solidFill>
            <a:srgbClr val="FFFFFF"/>
          </a:solidFill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ot-H-swagger-open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25880"/>
            <a:ext cx="5102352" cy="28803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3" name="TextBox SwaggerCTA"/>
          <p:cNvSpPr txBox="1"/>
          <p:nvPr/>
        </p:nvSpPr>
        <p:spPr>
          <a:xfrm>
            <a:off x="713232" y="4709160"/>
            <a:ext cx="4617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Live proof: /docs — Try it out with the mandatory brief query above</a:t>
            </a:r>
          </a:p>
        </p:txBody>
      </p:sp>
      <p:sp>
        <p:nvSpPr>
          <p:cNvPr id="24" name="Panel AsyncEvidenceV2"/>
          <p:cNvSpPr/>
          <p:nvPr/>
        </p:nvSpPr>
        <p:spPr>
          <a:xfrm>
            <a:off x="6053328" y="4315968"/>
            <a:ext cx="5102352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AsyncEvidenceV2"/>
          <p:cNvSpPr txBox="1"/>
          <p:nvPr/>
        </p:nvSpPr>
        <p:spPr>
          <a:xfrm>
            <a:off x="6163056" y="4407408"/>
            <a:ext cx="48920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Arial"/>
              </a:defRPr>
            </a:pPr>
            <a:r>
              <a:t>Async evidence (source) — B1 PASS</a:t>
            </a:r>
          </a:p>
          <a:p>
            <a:pPr>
              <a:defRPr sz="1000">
                <a:solidFill>
                  <a:srgbClr val="E2E8F0"/>
                </a:solidFill>
                <a:latin typeface="Consolas"/>
              </a:defRPr>
            </a:pPr>
            <a:r>
              <a:t>@router.post("/chat")</a:t>
            </a:r>
            <a:br/>
            <a:r>
              <a:t>async def chat(body: ChatRequest):</a:t>
            </a:r>
            <a:br/>
            <a:r>
              <a:t>    return await handle_chat(body)</a:t>
            </a:r>
            <a:br/>
            <a:br/>
            <a:r>
              <a:t># B1  tests/acceptance/test_coding_task_brief.py</a:t>
            </a:r>
            <a:br/>
            <a:r>
              <a:t>assert inspect.iscoroutinefunction(chat)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Response &amp;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FR2 (§2 response) + FR3 (§3 catalog-only RAG)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FR2·FR3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FR2 = Structured response: answer + retrieved_products[]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answer must be conversational and grounded in hits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each product: article_id, names, price, pet_type, brands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FR3 = Knowledge ONLY from product_catalog_dataset.json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ingest → Chroma → hybrid retrieve → synthesize · no web/APIs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300 variants · shops 1/3/15 · max 4 SKUs per turn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4-ra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78718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Why hybrid retrieval?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Chroma vectors + BM25 lexical + business rerank — not vector-only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RAG · Hybrid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1206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Problem we saw in the catalog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Vector search alone misses exact tokens (brands, SKUs, “grain-free”).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Pure keyword search misses intent (“puppy sensitive stomach”).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Why this hybrid design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Chroma: semantic candidates from embedded product text (local, no API key).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BM25 on the same candidate pool: lexical match without a second DB.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Fuse 50% vector + 35% BM25 + 15% rating/sales/stock.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PoC trade-off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Zero extra infra vs hosted vector DB; A/B via ZOOPLUS_RETRIEVAL_MODE=vector.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141732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Query path (hybrid default)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1. Hard filter site_id in Chroma metadata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2. Pull ≥24 vector candidates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3. Score BM25 on candidate documents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4. Rerank → top 4 for API + UI cards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When vector-only is enough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Short brand lookups or regression tests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Hybrid wins on natural-language shopper queries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RAG strategy — end to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Ingest → retrieve → ground → synthesize (catalog-only, site-scoped)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FR3 ·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Stream: /chat/stream → status* → products → done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UI: one transient status bubble (agent shopper_status).</a:t>
            </a:r>
          </a:p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Production path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routing_lexicon.json at ingest; optional Redis mirror.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Managed vector DB + scheduled re-ingest (roadmap P1).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v2.1.6 — playbook + smart limits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4 picks default · shopper can ask for more (e.g. 10 opciones, cap 20).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product_batch stream — cards arrive in chunks of 4 in the UI.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social_phrases.yaml index + playbook auto-learn (help/greeting).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Dynamic species inference (iguana, capibara…) — not a fixed list.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Agentic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Conductor-first · catalog lexicon · stream status — fast multilingual UX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1297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Invisible conductor (releases v2.0+)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Internal MD playbook — conductor maintains silently.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 turn → one bubble; help asks never hit catalog progress.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Catalog turn → ack from query (species, price, lang, count).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Dedupe: no re-greeting / no repeated scope in final answer.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Stream + fast intent (v2.1.3+)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Policy + intent-agent first; conductor opt-in (lower latency).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Parallel social/catalog · ZOOPLUS_STREAM_MODE=conductor.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9846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3-inten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07592"/>
            <a:ext cx="5577840" cy="38333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Agents — who responds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OpenCode specialists: role, output, and cascade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0383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OpenCode specialists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zooplus-conductor → playbook + stream orchestration (invisible).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social-agent → shopper voice; mid-session help without re-intro.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intent / topic-guard → scope filter.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rag + logic + synthesis → grounded catalog answer.</a:t>
            </a:r>
          </a:p>
          <a:p>
            <a:pPr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Phrase index + language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~90 curated social phrases (ES/EN/DE/FR) — fast in-memory match.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Agent mirrors shopper language; playbook learns novel phrases.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5-agents-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Guardrails +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FR4 — Functional Requirement 4: Pet-only scope (Coding Task §4)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126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FR4 guardrails + live demo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Pet catalog only · default-deny off-topic.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Demo — v2.1.6 smart loop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A: me puedes ayudar → social help, no catalog progress.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B: y para iguanas → scope reply, no duplicate Hola intro.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C: dame 10 opciones perros → up to 10 cards in batches.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http://127.0.0.1:8090/ui/ — shop Spain (15).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ot-G-guardrails-multil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61115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Production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FR5 — Functional Requirement 5: Production design (Coding Task §5)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5412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FR5 = Production-oriented PoC: cli/ · src/ · tests/ · Docker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README submission: Design · Setup · Trade-offs · Roadmap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OpenCode agents internal — not in shopper API contract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Verify: scripts/run_release_verify.ps1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0F172A"/>
                </a:solidFill>
                <a:latin typeface="Arial"/>
              </a:rPr>
              <a:t>Also explored for FR5: would an explicit state graph beat nested Python branches? (next 3 slides)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10-project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1307592"/>
            <a:ext cx="5577840" cy="419678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LangGraph 1/3 — explicit graph vs Python branches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Same agentic core, new explicit state graph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Architecture · LG · #0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416052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A2540"/>
                </a:solidFill>
                <a:latin typeface="Arial"/>
              </a:defRPr>
            </a:pPr>
            <a:r>
              <a:t>The problem this explores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• Legacy: one async function with nested if/elif per lane —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  retry/fallback chains hidden inside helper functions.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• Hard to unit-test one decision in isolation (e.g. "what happens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  on an intent timeout?") without exercising the whole function.</a:t>
            </a:r>
          </a:p>
          <a:p>
            <a:pPr>
              <a:spcAft>
                <a:spcPts val="600"/>
              </a:spcAft>
              <a:defRPr sz="1200" b="1">
                <a:solidFill>
                  <a:srgbClr val="0A2540"/>
                </a:solidFill>
                <a:latin typeface="Arial"/>
              </a:defRPr>
            </a:pPr>
            <a:r>
              <a:t>Same agentic core, explicit shape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• Every node calls THIS repo's own functions verbatim — zero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  re-implemented logic, nothing invented.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• 4 typed routing functions, independently unit-tested.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• All 7 nodes async — graph.ainvoke(), not graph.invoke().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1417320"/>
            <a:ext cx="1188720" cy="292608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START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1965960"/>
            <a:ext cx="2468880" cy="384048"/>
          </a:xfrm>
          <a:prstGeom prst="roundRect">
            <a:avLst/>
          </a:prstGeom>
          <a:solidFill>
            <a:srgbClr val="60A5FA"/>
          </a:solidFill>
          <a:ln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cache_check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1920240"/>
            <a:ext cx="1417320" cy="457200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END</a:t>
            </a:r>
            <a:br/>
            <a:r>
              <a:t>(cached answer)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2697480"/>
            <a:ext cx="2468880" cy="384048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classify_intent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49240" y="3429000"/>
            <a:ext cx="1737360" cy="384048"/>
          </a:xfrm>
          <a:prstGeom prst="roundRect">
            <a:avLst/>
          </a:prstGeom>
          <a:solidFill>
            <a:srgbClr val="34D399"/>
          </a:solidFill>
          <a:ln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social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3429000"/>
            <a:ext cx="1737360" cy="384048"/>
          </a:xfrm>
          <a:prstGeom prst="roundRect">
            <a:avLst/>
          </a:prstGeom>
          <a:solidFill>
            <a:srgbClr val="A78BFA"/>
          </a:solidFill>
          <a:ln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prefetch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79" y="4069080"/>
            <a:ext cx="2011680" cy="384048"/>
          </a:xfrm>
          <a:prstGeom prst="roundRect">
            <a:avLst/>
          </a:prstGeom>
          <a:solidFill>
            <a:srgbClr val="A78BFA"/>
          </a:solidFill>
          <a:ln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process_lane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29400" y="4800600"/>
            <a:ext cx="2468880" cy="384048"/>
          </a:xfrm>
          <a:prstGeom prst="roundRect">
            <a:avLst/>
          </a:prstGeom>
          <a:solidFill>
            <a:srgbClr val="60A5FA"/>
          </a:solidFill>
          <a:ln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cache_store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35240" y="5486400"/>
            <a:ext cx="1188720" cy="274320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END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7863840" y="1709928"/>
            <a:ext cx="548640" cy="25603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9098280" y="2148840"/>
            <a:ext cx="731520" cy="9144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961119" y="2034540"/>
            <a:ext cx="10058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00" i="1" b="1">
                <a:solidFill>
                  <a:srgbClr val="6B7280"/>
                </a:solidFill>
              </a:defRPr>
            </a:pPr>
            <a:r>
              <a:t>hit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863840" y="2350008"/>
            <a:ext cx="0" cy="34747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60919" y="2404872"/>
            <a:ext cx="10058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00" i="1" b="1">
                <a:solidFill>
                  <a:srgbClr val="6B7280"/>
                </a:solidFill>
              </a:defRPr>
            </a:pPr>
            <a:r>
              <a:t>miss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6217920" y="3081528"/>
            <a:ext cx="1097280" cy="34747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263640" y="3136392"/>
            <a:ext cx="10058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00" i="1" b="1">
                <a:solidFill>
                  <a:srgbClr val="6B7280"/>
                </a:solidFill>
              </a:defRPr>
            </a:pPr>
            <a:r>
              <a:t>social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03920" y="3081528"/>
            <a:ext cx="548640" cy="34747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75320" y="3136392"/>
            <a:ext cx="10058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00" i="1" b="1">
                <a:solidFill>
                  <a:srgbClr val="6B7280"/>
                </a:solidFill>
              </a:defRPr>
            </a:pPr>
            <a:r>
              <a:t>catalog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052560" y="3813048"/>
            <a:ext cx="137160" cy="25603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217920" y="3813048"/>
            <a:ext cx="1005840" cy="98755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8778240" y="4453128"/>
            <a:ext cx="411480" cy="34747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863840" y="5184648"/>
            <a:ext cx="320039" cy="30175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5349240" y="5806440"/>
            <a:ext cx="146304" cy="146304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50407" y="5769864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Arial"/>
              </a:defRPr>
            </a:pPr>
            <a:r>
              <a:t>cache</a:t>
            </a:r>
          </a:p>
        </p:txBody>
      </p:sp>
      <p:sp>
        <p:nvSpPr>
          <p:cNvPr id="42" name="Oval 41"/>
          <p:cNvSpPr/>
          <p:nvPr/>
        </p:nvSpPr>
        <p:spPr>
          <a:xfrm>
            <a:off x="6537960" y="5806440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9128" y="5769864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Arial"/>
              </a:defRPr>
            </a:pPr>
            <a:r>
              <a:t>intent</a:t>
            </a:r>
          </a:p>
        </p:txBody>
      </p:sp>
      <p:sp>
        <p:nvSpPr>
          <p:cNvPr id="44" name="Oval 43"/>
          <p:cNvSpPr/>
          <p:nvPr/>
        </p:nvSpPr>
        <p:spPr>
          <a:xfrm>
            <a:off x="7680960" y="5806440"/>
            <a:ext cx="146304" cy="146304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82128" y="5769864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Arial"/>
              </a:defRPr>
            </a:pPr>
            <a:r>
              <a:t>social</a:t>
            </a:r>
          </a:p>
        </p:txBody>
      </p:sp>
      <p:sp>
        <p:nvSpPr>
          <p:cNvPr id="46" name="Oval 45"/>
          <p:cNvSpPr/>
          <p:nvPr/>
        </p:nvSpPr>
        <p:spPr>
          <a:xfrm>
            <a:off x="8778240" y="5806440"/>
            <a:ext cx="146304" cy="146304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79408" y="5769864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Arial"/>
              </a:defRPr>
            </a:pPr>
            <a:r>
              <a:t>catalog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LangGraph 2/3 — every node, what it calls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Every node is a verbatim call into this repo's own functions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Architecture · LG · #0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371600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rial"/>
              </a:defRPr>
            </a:pPr>
            <a:r>
              <a:t>rag_node + synthesis_node deleted — process_lane replaces both with one call into the existing ACP dispatch.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49808" y="1874519"/>
          <a:ext cx="106070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20624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Node</a:t>
                      </a:r>
                    </a:p>
                  </a:txBody>
                  <a:tcPr anchor="ctr" marL="101600" marR="101600" marT="50800" marB="50800"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Calls (verbatim)</a:t>
                      </a:r>
                    </a:p>
                  </a:txBody>
                  <a:tcPr anchor="ctr" marL="101600" marR="101600" marT="50800" marB="50800"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Purpose</a:t>
                      </a:r>
                    </a:p>
                  </a:txBody>
                  <a:tcPr anchor="ctr" marL="101600" marR="101600" marT="50800" marB="50800">
                    <a:solidFill>
                      <a:srgbClr val="0A2540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cache_check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chat_cache.get(key)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Same singleton + key format as the legacy orchestrator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classify_intent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orchestrator._classify_intent_bounded()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Same 22s timeout, same _fallback_intent_decision() on timeout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prefetch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resolve_recommendation_count + price_band + search_catalog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Catalog hits fetched once — orchestrator.py step 3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social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social_agent.social_reply()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Unchanged behaviour, only made async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process_lane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dispatch_process(run_process_lane, timeout=&lt;constraints.yaml&gt;)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Real nested 40s outer / 18s inner timeout — replaces rag_node + synthesis_node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cache_store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chat_cache.set(key, response)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Same singleton as the legacy orchestrator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LangGraph 3/3 — audit findings &amp; verified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What a faithful audit found, and how it was verified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Architecture · LG · #0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1783080"/>
            <a:ext cx="507492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9536" y="1892807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1856231"/>
            <a:ext cx="4343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A2540"/>
                </a:solidFill>
                <a:latin typeface="Arial"/>
              </a:defRPr>
            </a:pPr>
            <a:r>
              <a:t>preferred_model silently ignored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2148840"/>
            <a:ext cx="4343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Arial"/>
              </a:defRPr>
            </a:pPr>
            <a:r>
              <a:t>UI's model override stored in state but no node read it. Fixed via ContextVar set for the whole graph run.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127248"/>
            <a:ext cx="507492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9536" y="32369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200400"/>
            <a:ext cx="4343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A2540"/>
                </a:solidFill>
                <a:latin typeface="Arial"/>
              </a:defRPr>
            </a:pPr>
            <a:r>
              <a:t>No chat-level cache existed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493008"/>
            <a:ext cx="4343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Arial"/>
              </a:defRPr>
            </a:pPr>
            <a:r>
              <a:t>cache_check_node / cache_store_node now share the legacy orchestrator's own chat_cache singleton.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4471416"/>
            <a:ext cx="507492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9536" y="45811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544568"/>
            <a:ext cx="4343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A2540"/>
                </a:solidFill>
                <a:latin typeface="Arial"/>
              </a:defRPr>
            </a:pPr>
            <a:r>
              <a:t>Catalog path bypassed dispatch_process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37176"/>
            <a:ext cx="4343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Arial"/>
              </a:defRPr>
            </a:pPr>
            <a:r>
              <a:t>Single 18s timeout, no outer-timeout cancellation. process_lane_node now calls the real ACP dispatch.</a:t>
            </a:r>
          </a:p>
        </p:txBody>
      </p: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6263640" y="1783080"/>
          <a:ext cx="50749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63640" y="5138928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60A5FA"/>
                </a:solidFill>
                <a:latin typeface="Arial"/>
              </a:defRPr>
            </a:pPr>
            <a:r>
              <a:t>~960x faster — same answer, identical bytes.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5623560"/>
            <a:ext cx="1600200" cy="566928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>
              <a:defRPr b="1" sz="1500">
                <a:solidFill>
                  <a:srgbClr val="FFFFFF"/>
                </a:solidFill>
              </a:defRPr>
            </a:pPr>
            <a:r>
              <a:t>179/180</a:t>
            </a:r>
          </a:p>
          <a:p>
            <a:pPr algn="ctr">
              <a:defRPr sz="900">
                <a:solidFill>
                  <a:srgbClr val="BFDBFE"/>
                </a:solidFill>
              </a:defRPr>
            </a:pPr>
            <a:r>
              <a:t>unit tests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01000" y="5623560"/>
            <a:ext cx="1600200" cy="566928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>
              <a:defRPr b="1" sz="1500">
                <a:solidFill>
                  <a:srgbClr val="FFFFFF"/>
                </a:solidFill>
              </a:defRPr>
            </a:pPr>
            <a:r>
              <a:t>206/206</a:t>
            </a:r>
          </a:p>
          <a:p>
            <a:pPr algn="ctr">
              <a:defRPr sz="900">
                <a:solidFill>
                  <a:srgbClr val="BFDBFE"/>
                </a:solidFill>
              </a:defRPr>
            </a:pPr>
            <a:r>
              <a:t>acceptance tests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38359" y="5623560"/>
            <a:ext cx="1600200" cy="566928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>
              <a:defRPr b="1" sz="1500">
                <a:solidFill>
                  <a:srgbClr val="FFFFFF"/>
                </a:solidFill>
              </a:defRPr>
            </a:pPr>
            <a:r>
              <a:t>33/33</a:t>
            </a:r>
          </a:p>
          <a:p>
            <a:pPr algn="ctr">
              <a:defRPr sz="900">
                <a:solidFill>
                  <a:srgbClr val="BFDBFE"/>
                </a:solidFill>
              </a:defRPr>
            </a:pPr>
            <a:r>
              <a:t>integration tests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6080760"/>
            <a:ext cx="5074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Explored &amp; validated on feature/lg-catalog-probe-intent (not yet adopted) — recommended as item #0, ahead of the roadmap below.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trust &amp;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Item #0 explored · Phase 1 P0 next — LangGraph foundation, then security (items 0, 2–3)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583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rPr sz="2000" b="1">
                <a:solidFill>
                  <a:srgbClr val="0A2540"/>
                </a:solidFill>
                <a:latin typeface="Arial"/>
              </a:rPr>
              <a:t>Item #0 — explored &amp; validated (not yet adopted)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0F172A"/>
                </a:solidFill>
                <a:latin typeface="Arial"/>
              </a:rPr>
              <a:t>feature/lg-catalog-probe-intent — faithful redesign, audited live (see previous slides)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0A2540"/>
                </a:solidFill>
                <a:latin typeface="Arial"/>
              </a:rPr>
              <a:t>Why first: FR4 guardrails must survive prompt injection and policy drift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0F172A"/>
                </a:solidFill>
                <a:latin typeface="Arial"/>
              </a:rPr>
              <a:t>Constraints v2: versioned YAML + injection scanner + security CI gate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0F172A"/>
                </a:solidFill>
                <a:latin typeface="Arial"/>
              </a:rPr>
              <a:t>Intent facets: pet_type, price band, category in JSON → deterministic RAG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0F172A"/>
                </a:solidFill>
                <a:latin typeface="Arial"/>
              </a:rPr>
              <a:t>Fixes real gaps (e.g. wrong species in results) before more traffic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0F172A"/>
                </a:solidFill>
                <a:latin typeface="Arial"/>
              </a:rPr>
              <a:t>Detail: docs/FUTURE_IMPROVEMENTS.md §2–§3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0F172A"/>
                </a:solidFill>
                <a:latin typeface="Arial"/>
              </a:rPr>
              <a:t>If adopted: item 2 (intent facets) -&gt; new conditional edge; item 5 (MCP/ACP bus) -&gt; new node types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6-quality-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887211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scale &amp; fresh catalog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2 · P1 — operations (items 8–9–4–5)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Why: stale vectors = wrong prices; single node cannot serve many users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RAG re-ingest: scheduled catalog sync → blue/green vector index swap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Concurrency: stateless API replicas · queue for process lane · rate limits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LLM: HTTP provider in workers (OpenCode stays for local dev/demo)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MCP server for external agents · ACP bus for internal agent choreography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7-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361526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product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3 · P2–P3 — after core is stable (items 7–1–6)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Later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669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Image search: user photo → vision embedding → catalog-only RAG (no web)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Promo slots on /chat/stream while long RAG runs (feature-flagged ads)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Voice: STT/TTS wrapper — same POST /chat contract, new UI channel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Priority order: 0→2→3→8→9→4→5→7→1→6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Q&amp;A — full doc: docs/FUTURE_IMPROVEMENTS.md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7161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1-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Release progress — v0.1.0 → v2.1.6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Same five FRs · smarter social routing, flexible picks, chunked 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Progress · releases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releases v2.1.6 · progress since v0.1.0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Foundation — v0.1.0 → v1.0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v0.1.0 — Coding Task PoC: FR1–5, hybrid RAG, FR4 guardrails.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v0.1.3 — Conductor-first routing; /chat/stream; per-agent OpenCode.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v1.0 — Stable tag: catalog lexicon at ingest, cache, multilingual.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Shopper experience — v1.4 → v2.1.6 (now)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 — Playbook MD; social/catalog probe; agent-multilingual.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v2.1.3 — Fast intent-first stream; conductor intent opt-in.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v2.1.4–5 — Species inference; help/saludo detect + dedupe.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v2.1.6 — Dynamic count (4→20); phrase index; product_batch UI.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