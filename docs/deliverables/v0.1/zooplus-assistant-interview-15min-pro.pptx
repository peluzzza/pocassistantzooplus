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7" r:id="rId19"/>
    <p:sldId id="268" r:id="rId20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5.xml"/><Relationship Id="rId20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30s: PoC scope from Coding Task.docx — five functional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Explain FR acronym once. Point to docx sections 1-5. Then walk FR1 on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60s: Show Swagger /docs (screenshot). Expand POST /chat. Run docx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min: Map each bullet to Coding Task §2 and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Walk diagram. Default-deny before Chroma.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Name each agent and allowed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min demo — tie steps to intent lanes (agentic slides).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1.5 min: FR5 + README four blocks.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Tie to FR4 and evaluation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Managed Chroma/Pinecone + Cloud Run mental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 + Q&amp;A. Emphasize same API contract for voice and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462272" y="0"/>
            <a:ext cx="128016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FFFF"/>
                </a:solidFill>
                <a:latin typeface="Arial"/>
              </a:defRPr>
            </a:pPr>
            <a:r>
              <a:t>zooplus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0">
                <a:solidFill>
                  <a:srgbClr val="BFDBFE"/>
                </a:solidFill>
                <a:latin typeface="Arial"/>
              </a:defRPr>
            </a:pPr>
            <a:r>
              <a:t>Assistant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920240"/>
            <a:ext cx="6858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F172A"/>
                </a:solidFill>
                <a:latin typeface="Arial"/>
              </a:defRPr>
            </a:pPr>
            <a:r>
              <a:t>Senior AI Engineer take-home</a:t>
            </a:r>
          </a:p>
          <a:p>
            <a:pPr>
              <a:spcAft>
                <a:spcPts val="600"/>
              </a:spcAft>
              <a:defRPr sz="1900" b="0">
                <a:solidFill>
                  <a:srgbClr val="334155"/>
                </a:solidFill>
                <a:latin typeface="Arial"/>
              </a:defRPr>
            </a:pPr>
            <a:r>
              <a:t>15-minute walkthrough · see slide 2 for FR1–FR5</a:t>
            </a:r>
          </a:p>
          <a:p>
            <a:pPr>
              <a:spcAft>
                <a:spcPts val="600"/>
              </a:spcAft>
              <a:defRPr sz="1900" b="0">
                <a:solidFill>
                  <a:srgbClr val="0F172A"/>
                </a:solidFill>
                <a:latin typeface="Arial"/>
              </a:defRPr>
            </a:pPr>
            <a:r>
              <a:t>peluzzza/PoCAssistantZooplus · releases · v0.1.0</a:t>
            </a:r>
          </a:p>
          <a:p>
            <a:pPr>
              <a:spcAft>
                <a:spcPts val="600"/>
              </a:spcAft>
              <a:defRPr sz="1900" b="0">
                <a:solidFill>
                  <a:srgbClr val="1E3A8A"/>
                </a:solidFill>
                <a:latin typeface="Arial"/>
              </a:defRPr>
            </a:pPr>
            <a:r>
              <a:t>Async RAG · agentic lanes · catalog-only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Coding Task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 = Functional Requirement from Coding Task.docx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§1–§5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07007"/>
            <a:ext cx="67299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298448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FR1 — Functional Requirement 1: Async FastAPI POST /chat (site_id + query)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FR2 — Functional Requirement 2: answer + retrieved_products (grounded)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FR3 — Functional Requirement 3: RAG only from product_catalog_dataset.json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FR4 — Functional Requirement 4: pet products only; off-topic decline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FR5 — Functional Requirement 5: production-oriented repo + README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Plus: agentic architecture (slides 5–6) — evaluation story, not an FR number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0376" y="1362456"/>
            <a:ext cx="427024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0-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417320"/>
            <a:ext cx="4160520" cy="2859287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API 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FR1 — Functional Requirement 1: async FastAPI + POST /chat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4892040" cy="5074920"/>
          </a:xfrm>
          <a:prstGeom prst="rect">
            <a:avLst/>
          </a:prstGeom>
          <a:solidFill>
            <a:srgbClr val="F8FAF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389888"/>
            <a:ext cx="46177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FR1 — Async FastAPI · POST /chat { site_id, query }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async def chat() → await handle_chat()  (routes/chat.py)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Orchestrator async; Chroma/intent via asyncio.to_thread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Deploy: uvicorn ASGI  ·  Test B1: iscoroutinefunction(chat)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3310128"/>
            <a:ext cx="4617720" cy="1234440"/>
          </a:xfrm>
          <a:prstGeom prst="rect">
            <a:avLst/>
          </a:prstGeom>
          <a:solidFill>
            <a:srgbClr val="E0F2F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456432"/>
            <a:ext cx="4343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{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  "site_id": 3,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  "query": "What's the best dry food for a puppy with a sensitive stomach?"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261872"/>
            <a:ext cx="5230368" cy="5074920"/>
          </a:xfrm>
          <a:prstGeom prst="roundRect">
            <a:avLst/>
          </a:prstGeom>
          <a:solidFill>
            <a:srgbClr val="FFFFFF"/>
          </a:solidFill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ot-H-swagger-open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25880"/>
            <a:ext cx="5102352" cy="288036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3" name="TextBox SwaggerCTA"/>
          <p:cNvSpPr txBox="1"/>
          <p:nvPr/>
        </p:nvSpPr>
        <p:spPr>
          <a:xfrm>
            <a:off x="713232" y="4709160"/>
            <a:ext cx="4617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Live proof: /docs — Try it out with the mandatory brief query above</a:t>
            </a:r>
          </a:p>
        </p:txBody>
      </p:sp>
      <p:sp>
        <p:nvSpPr>
          <p:cNvPr id="24" name="Panel AsyncEvidenceV2"/>
          <p:cNvSpPr/>
          <p:nvPr/>
        </p:nvSpPr>
        <p:spPr>
          <a:xfrm>
            <a:off x="6053328" y="4315968"/>
            <a:ext cx="5102352" cy="1874519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AsyncEvidenceV2"/>
          <p:cNvSpPr txBox="1"/>
          <p:nvPr/>
        </p:nvSpPr>
        <p:spPr>
          <a:xfrm>
            <a:off x="6163056" y="4407408"/>
            <a:ext cx="489204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00" b="1">
                <a:solidFill>
                  <a:srgbClr val="16A34A"/>
                </a:solidFill>
                <a:latin typeface="Arial"/>
              </a:defRPr>
            </a:pPr>
            <a:r>
              <a:t>Async evidence (source) — B1 PASS</a:t>
            </a:r>
          </a:p>
          <a:p>
            <a:pPr>
              <a:defRPr sz="1000">
                <a:solidFill>
                  <a:srgbClr val="E2E8F0"/>
                </a:solidFill>
                <a:latin typeface="Consolas"/>
              </a:defRPr>
            </a:pPr>
            <a:r>
              <a:t>@router.post("/chat")</a:t>
            </a:r>
            <a:br/>
            <a:r>
              <a:t>async def chat(body: ChatRequest):</a:t>
            </a:r>
            <a:br/>
            <a:r>
              <a:t>    return await handle_chat(body)</a:t>
            </a:r>
            <a:br/>
            <a:br/>
            <a:r>
              <a:t># B1  tests/acceptance/test_coding_task_brief.py</a:t>
            </a:r>
            <a:br/>
            <a:r>
              <a:t>assert inspect.iscoroutinefunction(chat)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Response &amp;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FR2 (§2 response) + FR3 (§3 catalog-only RAG)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FR2·FR3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FR2 = Structured response: answer + retrieved_products[]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answer must be conversational and grounded in hits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each product: article_id, names, price, pet_type, brands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FR3 = Knowledge ONLY from product_catalog_dataset.json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ingest → Chroma → hybrid retrieve → synthesize · no web/APIs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300 variants · shops 1/3/15 · max 4 SKUs per turn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4-rag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787184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Why hybrid retrieval?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Chroma vectors + BM25 lexical + business rerank — not vector-only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RAG · Hybrid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1206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Problem we saw in the catalog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Vector search alone misses exact tokens (brands, SKUs, “grain-free”).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Pure keyword search misses intent (“puppy sensitive stomach”).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Why this hybrid design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Chroma: semantic candidates from embedded product text (local, no API key).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BM25 on the same candidate pool: lexical match without a second DB.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Fuse 50% vector + 35% BM25 + 15% rating/sales/stock.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PoC trade-off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Zero extra infra vs hosted vector DB; A/B via ZOOPLUS_RETRIEVAL_MODE=vector.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1417320"/>
            <a:ext cx="53949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Query path (hybrid default)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1. Hard filter site_id in Chroma metadata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2. Pull ≥24 vector candidates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3. Score BM25 on candidate documents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4. Rerank → top 4 for API + UI cards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When vector-only is enough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Short brand lookups or regression tests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Hybrid wins on natural-language shopper queries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RAG strategy — end to 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Ingest → retrieve → ground → synthesize (catalog-only, site-scoped)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FR3 · 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3492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Grounding &amp; answer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retrieved_products[] from same site_id hits only.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Off-topic → empty list + polite decline (FR4).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Synthesis: per-agent OpenCode LLM — never invent SKUs.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Stream: /chat/stream → status* → products → done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UI: one transient status bubble (agent shopper_status).</a:t>
            </a:r>
          </a:p>
          <a:p>
            <a:pPr>
              <a:spcAft>
                <a:spcPts val="5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Production path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routing_lexicon.json at ingest; optional Redis mirror.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Managed vector DB + scheduled re-ingest (roadmap P1).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257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Grounding &amp; answer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retrieved_products[] from same site_id hits only.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Off-topic → empty list + polite decline (FR4).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Synthesis: per-agent OpenCode LLM — never invent SKUs.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v2.0 — invisible conductor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Strong LLM admin decides each stream tick (JSON actions).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social-agent voices briefs; shopper never sees conductor.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Anti-repeat: scope disclaimer once, then progress only.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Parallel catalog + paced typing/chunks (v1.4 UX kept).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Agentic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Conductor-first · catalog lexicon · stream status — fast multilingual UX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1297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Invisible conductor (v2.0 official)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minimax-m2.7 orchestrator — emit_message | wait | complete.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Delegates: social · topic-guard · RAG · logic · synthesis.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Each tick: new brief only — no repeated tortuga/gato disclaimers.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ZOOPLUS_STREAM_MODE=conductor (timed = v1.4 fallback).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Agentic core (unchanged)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Conductor-first intent before Chroma.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Catalog lexicon from ingest; optional Redis + session turns.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9846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3-intent-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07592"/>
            <a:ext cx="5577840" cy="383333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Agents — who responds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OpenCode specialists: role, output, and cascade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0383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OpenCode specialists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zooplus-conductor → invisible stream orchestrator (v2.0).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social-agent → shopper voice from conductor briefs.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intent / topic-guard → scope filter.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rag + logic + synthesis → grounded catalog answer.</a:t>
            </a:r>
          </a:p>
          <a:p>
            <a:pPr>
              <a:spcAft>
                <a:spcPts val="4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Per-agent LLMs (OpenCode Go)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Conductor + logic: minimax-m2.7.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Social + intent: fast flash models.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UI badge shows real model from response meta.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6188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5-agents-inte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Guardrails +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FR4 — Functional Requirement 4: Pet-only scope (Coding Task §4)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126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FR4 guardrails + live demo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Pet catalog only · default-deny off-topic.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Demo — v2.0 live loop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A: hola → fast social.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B: gatos/tortugas 20–50€ → 2–3 different bubbles, no repeat.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C: weather → decline.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http://127.0.0.1:8090/ui/ — shop Spain (15).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hot-G-guardrails-multila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61115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Production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FR5 — Functional Requirement 5: Production design (Coding Task §5)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5412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FR5 = Production-oriented PoC: cli/ · src/ · tests/ · Docker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README submission: Design · Setup · Trade-offs · Roadmap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OpenCode agents internal — not in shopper API contract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Verify: scripts/run_release_verify.ps1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10-project-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208" y="1307592"/>
            <a:ext cx="5577840" cy="419678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trust &amp;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1 · P0 — security and better filters (items 2–3)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583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Why first: FR4 guardrails must survive prompt injection and policy drift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Constraints v2: versioned YAML + injection scanner + security CI gate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Intent facets: pet_type, price band, category in JSON → deterministic RAG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Fixes real gaps (e.g. wrong species in results) before more traffic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Detail: docs/FUTURE_IMPROVEMENTS.md §2–§3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6-quality-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887211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scale &amp; fresh catalog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2 · P1 — operations (items 8–9–4–5)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Why: stale vectors = wrong prices; single node cannot serve many users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RAG re-ingest: scheduled catalog sync → blue/green vector index swap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Concurrency: stateless API replicas · queue for process lane · rate limits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LLM: HTTP provider in workers (OpenCode stays for local dev/demo)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MCP server for external agents · ACP bus for internal agent choreography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7-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361526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product channels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3 · P2–P3 — after core is stable (items 7–1–6)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Later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669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Image search: user photo → vision embedding → catalog-only RAG (no web)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Promo slots on /chat/stream while long RAG runs (feature-flagged ads)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Voice: STT/TTS wrapper — same POST /chat contract, new UI channel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Priority order: 2→3→8→9→4→5→7→1→6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Q&amp;A — full doc: docs/FUTURE_IMPROVEMENTS.md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7161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1-contai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